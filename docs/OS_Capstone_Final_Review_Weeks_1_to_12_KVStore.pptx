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OS CAPSTONE · FINAL REVIEW · WEEKS 1–12 COMPLETE</a:t>
            </a:r>
          </a:p>
          <a:p>
            <a:pPr>
              <a:spcAft>
                <a:spcPts val="600"/>
              </a:spcAft>
              <a:defRPr sz="5600" b="1">
                <a:solidFill>
                  <a:srgbClr val="F8FAFC"/>
                </a:solidFill>
                <a:latin typeface="Segoe UI"/>
              </a:defRPr>
            </a:pPr>
            <a:r>
              <a:t>KVStore</a:t>
            </a:r>
          </a:p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An industrial-grade, crash-consistent, concurrent key-value store built in C11</a:t>
            </a:r>
          </a:p>
          <a:p>
            <a:pPr>
              <a:defRPr sz="1200">
                <a:solidFill>
                  <a:srgbClr val="38BDF8"/>
                </a:solidFill>
                <a:latin typeface="Consolas"/>
              </a:defRPr>
            </a:pPr>
            <a:r>
              <a:t>github.com/really-rajnish/KVStore  ·  Project 19 (KL University 25CS2104E)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9601200" cy="1463040"/>
          </a:xfrm>
          <a:prstGeom prst="roundRect">
            <a:avLst/>
          </a:prstGeom>
          <a:solidFill>
            <a:srgbClr val="121E31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CAPSTONE TEAM (PROJECT 19)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rPr b="1"/>
              <a:t>Rajnish Kumar Ranjan · 2500032608        </a:t>
            </a:r>
            <a:r>
              <a:rPr b="1"/>
              <a:t>Hardik Gupta · 2500032616        </a:t>
            </a:r>
            <a:r>
              <a:rPr b="1"/>
              <a:t>Om Amrit Das · 2500032631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EXECUTIVE OVERVIEW · CAPSTONE DEFENSE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Abstract &amp; Distinction Deliverables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production-grade, crash-consistent multi-threaded storage daemon written in ISO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Executive Project Summary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Course &amp; Domain: </a:t>
            </a:r>
            <a:r>
              <a:rPr>
                <a:solidFill>
                  <a:srgbClr val="F8FAFC"/>
                </a:solidFill>
              </a:rPr>
              <a:t>KL University — 25CS2104E Operating Systems Capstone (Approved Project 19: High-Performance Concurrent Key-Value Store).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Core Deliverable: </a:t>
            </a:r>
            <a:r>
              <a:rPr>
                <a:solidFill>
                  <a:srgbClr val="F8FAFC"/>
                </a:solidFill>
              </a:rPr>
              <a:t>A multi-threaded persistent daemon developed strictly from scratch in ISO C11 with zero external libraries (POSIX sockets and pthreads only).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Storage Dual-Tier: </a:t>
            </a:r>
            <a:r>
              <a:rPr>
                <a:solidFill>
                  <a:srgbClr val="F8FAFC"/>
                </a:solidFill>
              </a:rPr>
              <a:t>Combines an O(1) in-memory DJB2 hash table with an append-only binary Write-Ahead Log (WAL) guarded by IEEE 802.3 CRC32 checksums.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Operating Scope: </a:t>
            </a:r>
            <a:r>
              <a:rPr>
                <a:solidFill>
                  <a:srgbClr val="F8FAFC"/>
                </a:solidFill>
              </a:rPr>
              <a:t>Operates as a high-performance network daemon with non-blocking stream protocol, graceful self-pipe signal handling, and sub-millisecond TTL.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Distinction Bar Criteria Fulfilled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1. Crash Consistency (kill -9): </a:t>
            </a:r>
            <a:r>
              <a:rPr>
                <a:solidFill>
                  <a:srgbClr val="F8FAFC"/>
                </a:solidFill>
              </a:rPr>
              <a:t>Survives sudden ungraceful SIGKILL terminations with 100% data recovery on startup replay.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2. Fine-Grained Concurrency: </a:t>
            </a:r>
            <a:r>
              <a:rPr>
                <a:solidFill>
                  <a:srgbClr val="F8FAFC"/>
                </a:solidFill>
              </a:rPr>
              <a:t>32 Striped Reader-Writer Locks achieving a 4.54x throughput speedup and 98.7% p99 tail latency drop over global mutex.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3. Online Log Compaction: </a:t>
            </a:r>
            <a:r>
              <a:rPr>
                <a:solidFill>
                  <a:srgbClr val="F8FAFC"/>
                </a:solidFill>
              </a:rPr>
              <a:t>Minimally blocking live snapshotting via atomic POSIX rename(2) swap with 98%+ WAL disk reduction.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4. Key Expiry (TTL) Engine: </a:t>
            </a:r>
            <a:r>
              <a:rPr>
                <a:solidFill>
                  <a:srgbClr val="F8FAFC"/>
                </a:solidFill>
              </a:rPr>
              <a:t>Dual-mode eviction: lazy on-access eviction + active background reaper thread.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5. Strict OS Discipline: </a:t>
            </a:r>
            <a:r>
              <a:rPr>
                <a:solidFill>
                  <a:srgbClr val="F8FAFC"/>
                </a:solidFill>
              </a:rPr>
              <a:t>Valgrind clean (0 bytes leaked in 0 blocks) &amp; ThreadSanitizer clean (0 data races).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TIMELINE &amp; PROGRESSION · WEEKS 1–12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Chronological Capstone Engineering Roadmap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12-week development lifecycle from in-memory index to empirical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Phase I: Core Engine (W1–W3)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Week 1: </a:t>
            </a:r>
            <a:r>
              <a:rPr>
                <a:solidFill>
                  <a:srgbClr val="F8FAFC"/>
                </a:solidFill>
              </a:rPr>
              <a:t>Separate Chaining Hash Table, DJB2 Hashing, Memory APIs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Week 2: </a:t>
            </a:r>
            <a:r>
              <a:rPr>
                <a:solidFill>
                  <a:srgbClr val="F8FAFC"/>
                </a:solidFill>
              </a:rPr>
              <a:t>Collision Chains, Dynamic Power-of-2 Rehashing, Leak Checks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Week 3: </a:t>
            </a:r>
            <a:r>
              <a:rPr>
                <a:solidFill>
                  <a:srgbClr val="F8FAFC"/>
                </a:solidFill>
              </a:rPr>
              <a:t>EBNF Grammar, Quoted Tokenizer, Dispatcher, REPL CLI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Phase II: Networking (W4–W6)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Week 4: </a:t>
            </a:r>
            <a:r>
              <a:rPr>
                <a:solidFill>
                  <a:srgbClr val="F8FAFC"/>
                </a:solidFill>
              </a:rPr>
              <a:t>TCP Client Utility &amp; Socket Abstractions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Week 5: </a:t>
            </a:r>
            <a:r>
              <a:rPr>
                <a:solidFill>
                  <a:srgbClr val="F8FAFC"/>
                </a:solidFill>
              </a:rPr>
              <a:t>Line Protocol Engine, ClientBuffer, 1-Byte Chunking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Week 6: </a:t>
            </a:r>
            <a:r>
              <a:rPr>
                <a:solidFill>
                  <a:srgbClr val="F8FAFC"/>
                </a:solidFill>
              </a:rPr>
              <a:t>Self-Pipe Trick (self_pipe[2]), Async Signals, Drain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Phase III: Durability (W7–W9)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Week 7: </a:t>
            </a:r>
            <a:r>
              <a:rPr>
                <a:solidFill>
                  <a:srgbClr val="F8FAFC"/>
                </a:solidFill>
              </a:rPr>
              <a:t>Binary WAL Framing, IEEE 802.3 CRC32, fsync Policies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Week 8: </a:t>
            </a:r>
            <a:r>
              <a:rPr>
                <a:solidFill>
                  <a:srgbClr val="F8FAFC"/>
                </a:solidFill>
              </a:rPr>
              <a:t>Crash Recovery, kill -9 Automation, Replay State Machine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Week 9: </a:t>
            </a:r>
            <a:r>
              <a:rPr>
                <a:solidFill>
                  <a:srgbClr val="F8FAFC"/>
                </a:solidFill>
              </a:rPr>
              <a:t>Online Log Compaction, Atomic rename(2) Log Replacement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Phase IV: Concurrency (W10–W12)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Week 10: </a:t>
            </a:r>
            <a:r>
              <a:rPr>
                <a:solidFill>
                  <a:srgbClr val="F8FAFC"/>
                </a:solidFill>
              </a:rPr>
              <a:t>ThreadPool, 32 Striped RW-Locks, TSan Race Freedom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Week 11: </a:t>
            </a:r>
            <a:r>
              <a:rPr>
                <a:solidFill>
                  <a:srgbClr val="F8FAFC"/>
                </a:solidFill>
              </a:rPr>
              <a:t>Key Expiry Engine, Lazy Eviction, Background Reaper</a:t>
            </a:r>
          </a:p>
          <a:p>
            <a:pPr>
              <a:spcAft>
                <a:spcPts val="1000"/>
              </a:spcAft>
              <a:defRPr sz="9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Week 12: </a:t>
            </a:r>
            <a:r>
              <a:rPr>
                <a:solidFill>
                  <a:srgbClr val="F8FAFC"/>
                </a:solidFill>
              </a:rPr>
              <a:t>Empirical Benchmarking (4.54x Speedup), Live Viva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PROBLEM FORMULATION · SYSTEMS ENGINEERING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 &amp; Systems Engineering Dilemma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Navigating the trade-offs between memory volatility, I/O latency, and lock contention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Fundamental Systems Trade-Off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Memory Volatility: </a:t>
            </a:r>
            <a:r>
              <a:rPr>
                <a:solidFill>
                  <a:srgbClr val="F8FAFC"/>
                </a:solidFill>
              </a:rPr>
              <a:t>In-memory stores provide sub-millisecond latencies but risk catastrophic total loss of state upon power failure, kernel panics, or sudden termination.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Disk I/O Bottlenecks: </a:t>
            </a:r>
            <a:r>
              <a:rPr>
                <a:solidFill>
                  <a:srgbClr val="F8FAFC"/>
                </a:solidFill>
              </a:rPr>
              <a:t>Traditional databases guarantee ACID durability through synchronous disk I/O, sacrificing throughput and causing severe p99 tail latency spikes.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Opaque Frameworks: </a:t>
            </a:r>
            <a:r>
              <a:rPr>
                <a:solidFill>
                  <a:srgbClr val="F8FAFC"/>
                </a:solidFill>
              </a:rPr>
              <a:t>Industrial solutions (e.g. Redis, RocksDB) use millions of lines of code with heavy dependencies, masking core OS interactions from systems engineers.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Educational Mandate: </a:t>
            </a:r>
            <a:r>
              <a:rPr>
                <a:solidFill>
                  <a:srgbClr val="F8FAFC"/>
                </a:solidFill>
              </a:rPr>
              <a:t>Mastering how operating systems coordinate virtual memory, file descriptors, signals, and multi-core scheduling requires building every tier from pure POSIX primitives.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Four Core OS Dilemmas Addressed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1. Crash Consistency (kill -9): </a:t>
            </a:r>
            <a:r>
              <a:rPr>
                <a:solidFill>
                  <a:srgbClr val="F8FAFC"/>
                </a:solidFill>
              </a:rPr>
              <a:t>Guaranteeing zero corrupted states or broken records when a daemon is terminated abruptly mid-write without calling exit handlers.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2. Lock Contention Scaling: </a:t>
            </a:r>
            <a:r>
              <a:rPr>
                <a:solidFill>
                  <a:srgbClr val="F8FAFC"/>
                </a:solidFill>
              </a:rPr>
              <a:t>Coarse-grained global mutexes serialize multi-core throughput. Concurrency requires fine-grained striped synchronization.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3. Asynchronous Signal Safety: </a:t>
            </a:r>
            <a:r>
              <a:rPr>
                <a:solidFill>
                  <a:srgbClr val="F8FAFC"/>
                </a:solidFill>
              </a:rPr>
              <a:t>POSIX signal handlers (SIGINT, SIGTERM) cannot safely call printf, malloc, or socket functions; clean shutdown requires the Self-Pipe Trick.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4. Strict Memory Discipline: </a:t>
            </a:r>
            <a:r>
              <a:rPr>
                <a:solidFill>
                  <a:srgbClr val="F8FAFC"/>
                </a:solidFill>
              </a:rPr>
              <a:t>Long-running daemon processes must guarantee 0 bytes leaked and 0 descriptor leaks under continuous multi-client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OBJECTIVES &amp; BOUNDARIES · PROJECT SCOPE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Objectives, Scope &amp; Constraints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Approved Use Case: Project 19 (High-Performance Concurrent Key-Value Store)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Core Objectives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O(1) In-Memory Index: </a:t>
            </a:r>
            <a:r>
              <a:rPr>
                <a:solidFill>
                  <a:srgbClr val="F8FAFC"/>
                </a:solidFill>
              </a:rPr>
              <a:t>Separate chaining hash table with DJB2 hashing and dynamic load-factor resizing.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Crash Durability: </a:t>
            </a:r>
            <a:r>
              <a:rPr>
                <a:solidFill>
                  <a:srgbClr val="F8FAFC"/>
                </a:solidFill>
              </a:rPr>
              <a:t>Write-Ahead Log with binary framing, CRC32 checksums, and torn write recovery.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Scalable Concurrency: </a:t>
            </a:r>
            <a:r>
              <a:rPr>
                <a:solidFill>
                  <a:srgbClr val="F8FAFC"/>
                </a:solidFill>
              </a:rPr>
              <a:t>32 Striped reader-writer locks delivering high parallel read/write throughput.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Distinction Compliance: </a:t>
            </a:r>
            <a:r>
              <a:rPr>
                <a:solidFill>
                  <a:srgbClr val="F8FAFC"/>
                </a:solidFill>
              </a:rPr>
              <a:t>Atomic log compaction, background TTL reaper, 0 Valgrind leaks, 0 TSan races.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In-Scope Deliverables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Pure ISO C11 Daemon: </a:t>
            </a:r>
            <a:r>
              <a:rPr>
                <a:solidFill>
                  <a:srgbClr val="F8FAFC"/>
                </a:solidFill>
              </a:rPr>
              <a:t>Zero third-party libraries (POSIX sockets and pthreads only).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Dual Client Interfaces: </a:t>
            </a:r>
            <a:r>
              <a:rPr>
                <a:solidFill>
                  <a:srgbClr val="F8FAFC"/>
                </a:solidFill>
              </a:rPr>
              <a:t>Terminal REPL CLI (bin/kvstore) and socket client (bin/kvstore_client).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Durability Engine: </a:t>
            </a:r>
            <a:r>
              <a:rPr>
                <a:solidFill>
                  <a:srgbClr val="F8FAFC"/>
                </a:solidFill>
              </a:rPr>
              <a:t>Crash recovery verified against sudden kill -9 with 100% data restoration.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Automated Verification: </a:t>
            </a:r>
            <a:r>
              <a:rPr>
                <a:solidFill>
                  <a:srgbClr val="F8FAFC"/>
                </a:solidFill>
              </a:rPr>
              <a:t>10 standalone test suites, automated leak auditing, and empirical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Scope Boundaries &amp; Assumptions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Single-Node Architecture: </a:t>
            </a:r>
            <a:r>
              <a:rPr>
                <a:solidFill>
                  <a:srgbClr val="F8FAFC"/>
                </a:solidFill>
              </a:rPr>
              <a:t>Scoped specifically as a high-performance single-node OS daemon.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No Distributed Clustering: </a:t>
            </a:r>
            <a:r>
              <a:rPr>
                <a:solidFill>
                  <a:srgbClr val="F8FAFC"/>
                </a:solidFill>
              </a:rPr>
              <a:t>Distributed consensus (Raft/Paxos) is intentionally outside capstone scope.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Virtual Memory Limits: </a:t>
            </a:r>
            <a:r>
              <a:rPr>
                <a:solidFill>
                  <a:srgbClr val="F8FAFC"/>
                </a:solidFill>
              </a:rPr>
              <a:t>Assumes 64-bit Linux virtual address space; keys/values bounded up to 64 KB.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Target Environment: </a:t>
            </a:r>
            <a:r>
              <a:rPr>
                <a:solidFill>
                  <a:srgbClr val="F8FAFC"/>
                </a:solidFill>
              </a:rPr>
              <a:t>Ubuntu 24.04 LTS running on WSL2 / native Linux with GCC 13 toolchain.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SYSTEM DESIGN · ARCHITECTURAL BLUEPRINT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Comprehensive 4-Tier System Architecture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Decoupled architecture connecting client endpoints down to durable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Tier 1: Client Interfaces &amp; Interaction Layer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Interactive REPL CLI (bin/kvstore): </a:t>
            </a:r>
            <a:r>
              <a:rPr>
                <a:solidFill>
                  <a:srgbClr val="F8FAFC"/>
                </a:solidFill>
              </a:rPr>
              <a:t>Terminal REPL with command history, syntax checks, quote tokenizer, and colored output.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TCP Client Utility (bin/kvstore_client): </a:t>
            </a:r>
            <a:r>
              <a:rPr>
                <a:solidFill>
                  <a:srgbClr val="F8FAFC"/>
                </a:solidFill>
              </a:rPr>
              <a:t>Socket client supporting interactive queries and scripted pipelined command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Tier 2: Network &amp; Signal Daemon Layer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Non-Blocking Event Loop (poll(2)): </a:t>
            </a:r>
            <a:r>
              <a:rPr>
                <a:solidFill>
                  <a:srgbClr val="F8FAFC"/>
                </a:solidFill>
              </a:rPr>
              <a:t>Multiplexes client descriptors and listening sockets with non-blocking polling.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Self-Pipe Trick (self_pipe[2]): </a:t>
            </a:r>
            <a:r>
              <a:rPr>
                <a:solidFill>
                  <a:srgbClr val="F8FAFC"/>
                </a:solidFill>
              </a:rPr>
              <a:t>Signal-safe pipe wakeup allowing SIGINT/SIGTERM handlers to trigger clean draining.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Tier 3: Protocol Framing &amp; Concurrency Layer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Streaming ClientBuffer Engine: </a:t>
            </a:r>
            <a:r>
              <a:rPr>
                <a:solidFill>
                  <a:srgbClr val="F8FAFC"/>
                </a:solidFill>
              </a:rPr>
              <a:t>Dynamic accumulation buffer tolerating 1-byte fragmented reads and command pipelining.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32 Striped RW-Locks (pthread_rwlock_t): </a:t>
            </a:r>
            <a:r>
              <a:rPr>
                <a:solidFill>
                  <a:srgbClr val="F8FAFC"/>
                </a:solidFill>
              </a:rPr>
              <a:t>Key hash space mapped across 32 stripes for multi-core read/write scalability.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Tier 4: Storage, TTL &amp; Durability Engine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In-Memory DJB2 Hash Table: </a:t>
            </a:r>
            <a:r>
              <a:rPr>
                <a:solidFill>
                  <a:srgbClr val="F8FAFC"/>
                </a:solidFill>
              </a:rPr>
              <a:t>Separate chaining with power-of-2 automatic bucket doubling at load factor &gt;= 0.75.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Binary WAL &amp; Online Compaction: </a:t>
            </a:r>
            <a:r>
              <a:rPr>
                <a:solidFill>
                  <a:srgbClr val="F8FAFC"/>
                </a:solidFill>
              </a:rPr>
              <a:t>CRC32 framed append log; atomic rename(2) snapshot compaction shrinks logs by 98%.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SYSTEM DESIGN · DATA FLOW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Query Processing Lifecycle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Detailed lifecycle trace of a query: ingress, framing, parsing, durability, lock, and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Detailed Step-by-Step Execution Trace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Socket Read: </a:t>
            </a:r>
            <a:r>
              <a:rPr>
                <a:solidFill>
                  <a:srgbClr val="F8FAFC"/>
                </a:solidFill>
              </a:rPr>
              <a:t>Client transmits SET user:1 "Alice Smith" 5000 over TCP. poll() wakes worker thread.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Buffer Accumulation: </a:t>
            </a:r>
            <a:r>
              <a:rPr>
                <a:solidFill>
                  <a:srgbClr val="F8FAFC"/>
                </a:solidFill>
              </a:rPr>
              <a:t>server.c appends incoming bytes to dynamic ClientBuffer; extracts full line at CRLF delimiter.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Parsing &amp; Tokenizing: </a:t>
            </a:r>
            <a:r>
              <a:rPr>
                <a:solidFill>
                  <a:srgbClr val="F8FAFC"/>
                </a:solidFill>
              </a:rPr>
              <a:t>parser.c tokenizes line, handles quoted strings and escapes, and validates argument arity.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WAL Serialization: </a:t>
            </a:r>
            <a:r>
              <a:rPr>
                <a:solidFill>
                  <a:srgbClr val="F8FAFC"/>
                </a:solidFill>
              </a:rPr>
              <a:t>wal.c serializes record, calculates IEEE 802.3 CRC32, and writes frame to disk log.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5. Lock Acquisition: </a:t>
            </a:r>
            <a:r>
              <a:rPr>
                <a:solidFill>
                  <a:srgbClr val="F8FAFC"/>
                </a:solidFill>
              </a:rPr>
              <a:t>Hash determines stripe idx; thread acquires pthread_rwlock_wrlock for that stripe.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6. Hash Table Mutation: </a:t>
            </a:r>
            <a:r>
              <a:rPr>
                <a:solidFill>
                  <a:srgbClr val="F8FAFC"/>
                </a:solidFill>
              </a:rPr>
              <a:t>Separate chaining collision chain updated with new key, value, and expire_at_ms.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7. Reply Dispatch: </a:t>
            </a:r>
            <a:r>
              <a:rPr>
                <a:solidFill>
                  <a:srgbClr val="F8FAFC"/>
                </a:solidFill>
              </a:rPr>
              <a:t>protocol.c formats OK\r\n and flushes response back through socket to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Query Architecture Invariants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Crash-Durability Invariant: </a:t>
            </a:r>
            <a:r>
              <a:rPr>
                <a:solidFill>
                  <a:srgbClr val="F8FAFC"/>
                </a:solidFill>
              </a:rPr>
              <a:t>WAL append precedes in-memory mutation. If node crashes mid-write, replay safely resolves state.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Pipelined Stream Invariant: </a:t>
            </a:r>
            <a:r>
              <a:rPr>
                <a:solidFill>
                  <a:srgbClr val="F8FAFC"/>
                </a:solidFill>
              </a:rPr>
              <a:t>Multiple back-to-back commands in a single TCP packet are unpacked sequentially without dropped frames.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Deadlock-Free Full Table Locks: </a:t>
            </a:r>
            <a:r>
              <a:rPr>
                <a:solidFill>
                  <a:srgbClr val="F8FAFC"/>
                </a:solidFill>
              </a:rPr>
              <a:t>Global table operations (resizing, compaction) lock all 32 stripes strictly in ascending index order (0 to 31).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Lazy Eviction on Read: </a:t>
            </a:r>
            <a:r>
              <a:rPr>
                <a:solidFill>
                  <a:srgbClr val="F8FAFC"/>
                </a:solidFill>
              </a:rPr>
              <a:t>GET queries inspect expire_at_ms; expired keys trigger instant lazy eviction and return (nil).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I: CORE ENGINE · WEEKS 1 &amp; 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In-Memory Index Design &amp; DJB2 Hashing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Separate chaining collision resolution, mathematical distribution, and heap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In-Memory Index Architecture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Separate Chaining Linked List: </a:t>
            </a:r>
            <a:r>
              <a:rPr>
                <a:solidFill>
                  <a:srgbClr val="F8FAFC"/>
                </a:solidFill>
              </a:rPr>
              <a:t>Array of bucket heads with singly-linked Node elements storing key, value, and expiration timestamp.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DJB2 Hash Function: </a:t>
            </a:r>
            <a:r>
              <a:rPr>
                <a:solidFill>
                  <a:srgbClr val="F8FAFC"/>
                </a:solidFill>
              </a:rPr>
              <a:t>hash = ((hash &lt;&lt; 5) + hash) + c — Daniel J. Bernstein's 33-multiplier algorithm.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Uniform Distribution: </a:t>
            </a:r>
            <a:r>
              <a:rPr>
                <a:solidFill>
                  <a:srgbClr val="F8FAFC"/>
                </a:solidFill>
              </a:rPr>
              <a:t>Demonstrates minimal bucket clustering across synthetic and real-world string key patterns.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Full CRUD API: </a:t>
            </a:r>
            <a:r>
              <a:rPr>
                <a:solidFill>
                  <a:srgbClr val="F8FAFC"/>
                </a:solidFill>
              </a:rPr>
              <a:t>hash_table_set, hash_table_get, hash_table_del, hash_table_count, hash_table_clear.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Memory Management: </a:t>
            </a:r>
            <a:r>
              <a:rPr>
                <a:solidFill>
                  <a:srgbClr val="F8FAFC"/>
                </a:solidFill>
              </a:rPr>
              <a:t>Keys and values dynamically duplicated with strdup; explicit free on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Why Separate Chaining over Open Addressing?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Clean Deletions: </a:t>
            </a:r>
            <a:r>
              <a:rPr>
                <a:solidFill>
                  <a:srgbClr val="F8FAFC"/>
                </a:solidFill>
              </a:rPr>
              <a:t>Open addressing requires tombstone markers that degrade lookup speed over time. Separate chaining unlinks cleanly.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Fine-Grained Locking: </a:t>
            </a:r>
            <a:r>
              <a:rPr>
                <a:solidFill>
                  <a:srgbClr val="F8FAFC"/>
                </a:solidFill>
              </a:rPr>
              <a:t>Each bucket collision chain can be locked independently without cascading bucket probes.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Predictable Allocations: </a:t>
            </a:r>
            <a:r>
              <a:rPr>
                <a:solidFill>
                  <a:srgbClr val="F8FAFC"/>
                </a:solidFill>
              </a:rPr>
              <a:t>Memory for new keys is allocated on insertion rather than requiring massive contiguous table pre-allocation.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Zero Memory Leaks: </a:t>
            </a:r>
            <a:r>
              <a:rPr>
                <a:solidFill>
                  <a:srgbClr val="F8FAFC"/>
                </a:solidFill>
              </a:rPr>
              <a:t>Unit test test_hash_table (28 assertions) passes 100% clean under Valgrind.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I: CORE ENGINE · WEEK 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Dynamic Rehashing &amp; Load Factor Control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Preserving O(1) operational bounds through automated power-of-2 bucket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Dynamic Rehashing Mechanics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Load Factor Threshold: </a:t>
            </a:r>
            <a:r>
              <a:rPr>
                <a:solidFill>
                  <a:srgbClr val="F8FAFC"/>
                </a:solidFill>
              </a:rPr>
              <a:t>Load Factor alpha = (size / capacity). When alpha &gt;= 0.75, table capacity automatically doubles.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Power-of-2 Resizing: </a:t>
            </a:r>
            <a:r>
              <a:rPr>
                <a:solidFill>
                  <a:srgbClr val="F8FAFC"/>
                </a:solidFill>
              </a:rPr>
              <a:t>Initial capacity starts at 16 buckets, expanding to 32, 64, 128, 256... as elements are inserted.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Zero Node Reallocations: </a:t>
            </a:r>
            <a:r>
              <a:rPr>
                <a:solidFill>
                  <a:srgbClr val="F8FAFC"/>
                </a:solidFill>
              </a:rPr>
              <a:t>Existing Node structures are re-linked directly into the new bucket array without duplicating string keys or values.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Bitwise Modulo Optimization: </a:t>
            </a:r>
            <a:r>
              <a:rPr>
                <a:solidFill>
                  <a:srgbClr val="F8FAFC"/>
                </a:solidFill>
              </a:rPr>
              <a:t>With power-of-2 capacities, bucket indexing uses fast bitwise masking: bucket = hash &amp; (capacity - 1).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Amortized O(1) Guarantee: </a:t>
            </a:r>
            <a:r>
              <a:rPr>
                <a:solidFill>
                  <a:srgbClr val="F8FAFC"/>
                </a:solidFill>
              </a:rPr>
              <a:t>Resizing cost amortizes to O(1) per insertion, preventing degradation into O(N) linked list scans.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Rehashing Algorithm Trace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1. Capacity Doubling: </a:t>
            </a:r>
            <a:r>
              <a:rPr>
                <a:solidFill>
                  <a:srgbClr val="F8FAFC"/>
                </a:solidFill>
              </a:rPr>
              <a:t>size_t new_cap = old_cap * 2; calloc new bucket head pointer array.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2. Bucket Traversal: </a:t>
            </a:r>
            <a:r>
              <a:rPr>
                <a:solidFill>
                  <a:srgbClr val="F8FAFC"/>
                </a:solidFill>
              </a:rPr>
              <a:t>Iterate through each bucket 0 to old_cap - 1.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3. Pointer Splice &amp; Rehash: </a:t>
            </a:r>
            <a:r>
              <a:rPr>
                <a:solidFill>
                  <a:srgbClr val="F8FAFC"/>
                </a:solidFill>
              </a:rPr>
              <a:t>For each node, compute new_bucket = djb2(key) % new_cap; splice node into new head.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4. Atomic Swap: </a:t>
            </a:r>
            <a:r>
              <a:rPr>
                <a:solidFill>
                  <a:srgbClr val="F8FAFC"/>
                </a:solidFill>
              </a:rPr>
              <a:t>Free old bucket pointer array and assign new array to table pointer.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5. Verification: </a:t>
            </a:r>
            <a:r>
              <a:rPr>
                <a:solidFill>
                  <a:srgbClr val="F8FAFC"/>
                </a:solidFill>
              </a:rPr>
              <a:t>Validated across 10,000 continuous insertions with 0 collisions escaping O(1) bounds.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I: CORE ENGINE · WEEK 3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Protocol Grammar, Tokenizer &amp; Interactive REPL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Formal command grammar, quoted string extraction, and the bin/kvstore terminal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EBNF Formal Command Grammar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Command Grammar: </a:t>
            </a:r>
            <a:r>
              <a:rPr>
                <a:solidFill>
                  <a:srgbClr val="F8FAFC"/>
                </a:solidFill>
              </a:rPr>
              <a:t>line := wsp* command wsp* ( args )* wsp* newline?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Supported Commands: </a:t>
            </a:r>
            <a:r>
              <a:rPr>
                <a:solidFill>
                  <a:srgbClr val="F8FAFC"/>
                </a:solidFill>
              </a:rPr>
              <a:t>SET, GET, DEL, COUNT, EXPIRE, TTL, COMPACT, EXIT, QUIT.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Token Representation: </a:t>
            </a:r>
            <a:r>
              <a:rPr>
                <a:solidFill>
                  <a:srgbClr val="F8FAFC"/>
                </a:solidFill>
              </a:rPr>
              <a:t>token := bare | quoted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Bare Tokens: </a:t>
            </a:r>
            <a:r>
              <a:rPr>
                <a:solidFill>
                  <a:srgbClr val="F8FAFC"/>
                </a:solidFill>
              </a:rPr>
              <a:t>Alphanumeric identifiers and symbols without spaces (e.g., user:101, alpha).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Quoted Tokens: </a:t>
            </a:r>
            <a:r>
              <a:rPr>
                <a:solidFill>
                  <a:srgbClr val="F8FAFC"/>
                </a:solidFill>
              </a:rPr>
              <a:t>Enclosed in double quotes with escape support (e.g., "Alice Smith", "line\nbreak").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Syntax Validation: </a:t>
            </a:r>
            <a:r>
              <a:rPr>
                <a:solidFill>
                  <a:srgbClr val="F8FAFC"/>
                </a:solidFill>
              </a:rPr>
              <a:t>Rejects malformed arguments, unterminated quotes, and invalid TTL numbers with informative ERROR replies.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Interactive REPL CLI (bin/kvstore)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User Experience: </a:t>
            </a:r>
            <a:r>
              <a:rPr>
                <a:solidFill>
                  <a:srgbClr val="F8FAFC"/>
                </a:solidFill>
              </a:rPr>
              <a:t>Interactive terminal prompt displaying colored indicators (kvstore&gt;), command prompts, and structured output.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Dispatcher Abstraction: </a:t>
            </a:r>
            <a:r>
              <a:rPr>
                <a:solidFill>
                  <a:srgbClr val="F8FAFC"/>
                </a:solidFill>
              </a:rPr>
              <a:t>Decouples input string parsing from KVStore engine execution via dispatcher_dispatch().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Standardized Replies: </a:t>
            </a:r>
            <a:r>
              <a:rPr>
                <a:solidFill>
                  <a:srgbClr val="F8FAFC"/>
                </a:solidFill>
              </a:rPr>
              <a:t>Uniform output format: OK, "&lt;value&gt;", (nil), NOT_FOUND, &lt;count&gt;, ERROR &lt;message&gt;.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test_parser (30 assertions) verifies bare tokens, escaped quotes, empty strings, and edge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II: NETWORKING · WEEKS 4 &amp; 5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Non-Blocking TCP Network Architecture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POSIX socket primitives, non-blocking I/O multiplexing, and client utility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Socket Daemon Architecture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POSIX Sockets API: </a:t>
            </a:r>
            <a:r>
              <a:rPr>
                <a:solidFill>
                  <a:srgbClr val="F8FAFC"/>
                </a:solidFill>
              </a:rPr>
              <a:t>Built with AF_INET stream sockets (SOCK_STREAM) using pure POSIX networking primitives.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Non-Blocking Descriptors: </a:t>
            </a:r>
            <a:r>
              <a:rPr>
                <a:solidFill>
                  <a:srgbClr val="F8FAFC"/>
                </a:solidFill>
              </a:rPr>
              <a:t>fcntl(fd, F_SETFL, O_NONBLOCK) enables responsive, non-blocking read/write operations.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I/O Multiplexing (poll(2)): </a:t>
            </a:r>
            <a:r>
              <a:rPr>
                <a:solidFill>
                  <a:srgbClr val="F8FAFC"/>
                </a:solidFill>
              </a:rPr>
              <a:t>Monitors listening socket, active client sockets, and the self-pipe descriptor without blocking threads.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Ephemeral Port Binding: </a:t>
            </a:r>
            <a:r>
              <a:rPr>
                <a:solidFill>
                  <a:srgbClr val="F8FAFC"/>
                </a:solidFill>
              </a:rPr>
              <a:t>Supports port 0 binding for automated dynamic port allocation during regression test runs.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Connection Tracking: </a:t>
            </a:r>
            <a:r>
              <a:rPr>
                <a:solidFill>
                  <a:srgbClr val="F8FAFC"/>
                </a:solidFill>
              </a:rPr>
              <a:t>Maintains active client descriptor pool with connection state, buffer instances, and timestamps.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TCP Client Utility (bin/kvstore_client)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Dual Operating Modes: </a:t>
            </a:r>
            <a:r>
              <a:rPr>
                <a:solidFill>
                  <a:srgbClr val="F8FAFC"/>
                </a:solidFill>
              </a:rPr>
              <a:t>Interactive mode for terminal users + scripted batch pipeline mode for shell automation.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Connection Management: </a:t>
            </a:r>
            <a:r>
              <a:rPr>
                <a:solidFill>
                  <a:srgbClr val="F8FAFC"/>
                </a:solidFill>
              </a:rPr>
              <a:t>Handles socket connection setup, stream transmission, and graceful disconnection upon QUIT.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Network Testing: </a:t>
            </a:r>
            <a:r>
              <a:rPr>
                <a:solidFill>
                  <a:srgbClr val="F8FAFC"/>
                </a:solidFill>
              </a:rPr>
              <a:t>test_server_client (23 assertions) validates concurrent multi-client queries and end-to-end responses.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Zero Leaks: </a:t>
            </a:r>
            <a:r>
              <a:rPr>
                <a:solidFill>
                  <a:srgbClr val="F8FAFC"/>
                </a:solidFill>
              </a:rPr>
              <a:t>Client descriptors cleanly closed and freed upon termination without descriptor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II: NETWORKING · WEEK 5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Streaming Line Protocol Engine &amp; ClientBuffer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Handling 1-byte chunk fragmentation, partial reads, and pipelined bursts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TCP Fragmentation Challenge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Stream Nature of TCP: </a:t>
            </a:r>
            <a:r>
              <a:rPr>
                <a:solidFill>
                  <a:srgbClr val="F8FAFC"/>
                </a:solidFill>
              </a:rPr>
              <a:t>TCP is a byte-stream, not a packet protocol. recv() may return 1 byte, half a command, or 5 commands in one call.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Naive Server Failure: </a:t>
            </a:r>
            <a:r>
              <a:rPr>
                <a:solidFill>
                  <a:srgbClr val="F8FAFC"/>
                </a:solidFill>
              </a:rPr>
              <a:t>Basic servers assume 1 recv() == 1 complete command. Under network congestion or small packets, they crash or corrupt data.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Dynamic ClientBuffer: </a:t>
            </a:r>
            <a:r>
              <a:rPr>
                <a:solidFill>
                  <a:srgbClr val="F8FAFC"/>
                </a:solidFill>
              </a:rPr>
              <a:t>Self-expanding byte buffer tracking capacity, write offset, and unread cursor per client connection.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Chunk Accumulation: </a:t>
            </a:r>
            <a:r>
              <a:rPr>
                <a:solidFill>
                  <a:srgbClr val="F8FAFC"/>
                </a:solidFill>
              </a:rPr>
              <a:t>recv() appends incoming bytes to buffer. Parser scans for \n or \r\n delimiters without blocking.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Pipelining &amp; Line Extraction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Line Extraction Algorithm: </a:t>
            </a:r>
            <a:r>
              <a:rPr>
                <a:solidFill>
                  <a:srgbClr val="F8FAFC"/>
                </a:solidFill>
              </a:rPr>
              <a:t>Scans buffer for newline. When found, extracts line string, compacts remaining unread bytes, and dispatches command.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Pipelining Support: </a:t>
            </a:r>
            <a:r>
              <a:rPr>
                <a:solidFill>
                  <a:srgbClr val="F8FAFC"/>
                </a:solidFill>
              </a:rPr>
              <a:t>Clients can transmit bursts of multiple commands in a single TCP payload. The server extracts and executes each in sequence.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1-Byte Fragmentation Test: </a:t>
            </a:r>
            <a:r>
              <a:rPr>
                <a:solidFill>
                  <a:srgbClr val="F8FAFC"/>
                </a:solidFill>
              </a:rPr>
              <a:t>test_protocol (56 assertions) feeds commands byte-by-byte (1 byte per call) and validates 100% correct extraction.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Buffer Compaction: </a:t>
            </a:r>
            <a:r>
              <a:rPr>
                <a:solidFill>
                  <a:srgbClr val="F8FAFC"/>
                </a:solidFill>
              </a:rPr>
              <a:t>Unread trailing partial commands are shifted to buffer head using memmove, preserving memory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II: NETWORKING · WEEK 6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Asynchronous Signal Handling &amp; Graceful Shutdown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Implementing the Self-Pipe Trick (self_pipe[2]) for async-signal-safe shutdown and connection draining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Why Standard Signal Handlers Fail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POSIX Signal Invariant: </a:t>
            </a:r>
            <a:r>
              <a:rPr>
                <a:solidFill>
                  <a:srgbClr val="F8FAFC"/>
                </a:solidFill>
              </a:rPr>
              <a:t>Inside signal handlers (SIGINT, SIGTERM), only async-signal-safe functions (e.g. write, _exit) may be called.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The Deadlock Danger: </a:t>
            </a:r>
            <a:r>
              <a:rPr>
                <a:solidFill>
                  <a:srgbClr val="F8FAFC"/>
                </a:solidFill>
              </a:rPr>
              <a:t>Calling printf, malloc, free, or socket functions inside a signal handler causes re-entrancy deadlocks and memory corruption.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The Race Condition: </a:t>
            </a:r>
            <a:r>
              <a:rPr>
                <a:solidFill>
                  <a:srgbClr val="F8FAFC"/>
                </a:solidFill>
              </a:rPr>
              <a:t>Setting a global volatile sig_atomic_t flag does not wake up a thread currently blocked inside poll() or accept().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The OS Solution: Self-Pipe Trick: </a:t>
            </a:r>
            <a:r>
              <a:rPr>
                <a:solidFill>
                  <a:srgbClr val="F8FAFC"/>
                </a:solidFill>
              </a:rPr>
              <a:t>Creates an internal pipe self_pipe[2]. The signal handler writes 1 byte to self_pipe[1]; poll() monitors self_pipe[0].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Graceful Shutdown &amp; Connection Draining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Instant Loop Wakeup: </a:t>
            </a:r>
            <a:r>
              <a:rPr>
                <a:solidFill>
                  <a:srgbClr val="F8FAFC"/>
                </a:solidFill>
              </a:rPr>
              <a:t>When SIGINT or SIGTERM arrives, the 1-byte pipe write wakes poll() immediately without polling delays.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Orderly Connection Draining: </a:t>
            </a:r>
            <a:r>
              <a:rPr>
                <a:solidFill>
                  <a:srgbClr val="F8FAFC"/>
                </a:solidFill>
              </a:rPr>
              <a:t>Daemon ceases accepting new connections, processes all in-flight client queries, flushes responses, and closes sockets.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Clean Resource Teardown: </a:t>
            </a:r>
            <a:r>
              <a:rPr>
                <a:solidFill>
                  <a:srgbClr val="F8FAFC"/>
                </a:solidFill>
              </a:rPr>
              <a:t>Closes self_pipe, terminates background threads, flushes WAL, and frees all memory cleanly.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test_signals (10 assertions) verifies programmatic stop, SIGTERM drain, and SIGINT exit.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III: DURABILITY · WEEK 7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Write-Ahead Logging (WAL) &amp; Binary Framing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Binary record framing, IEEE 802.3 CRC32 checksums, and fsync durability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Binary Record Framing Layout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Network Byte Order Binary Layout: </a:t>
            </a:r>
            <a:r>
              <a:rPr>
                <a:solidFill>
                  <a:srgbClr val="F8FAFC"/>
                </a:solidFill>
              </a:rPr>
              <a:t>Structured record format protecting against bit rot and partial disk writes: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1. Opcode (1 Byte): </a:t>
            </a:r>
            <a:r>
              <a:rPr>
                <a:solidFill>
                  <a:srgbClr val="F8FAFC"/>
                </a:solidFill>
              </a:rPr>
              <a:t>0x01 (SET), 0x02 (DEL), 0x03 (SET_TTL).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2. Key Length (2 Bytes uint16_t): </a:t>
            </a:r>
            <a:r>
              <a:rPr>
                <a:solidFill>
                  <a:srgbClr val="F8FAFC"/>
                </a:solidFill>
              </a:rPr>
              <a:t>Length of key in bytes (big-endian).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3. Value Length (4 Bytes uint32_t): </a:t>
            </a:r>
            <a:r>
              <a:rPr>
                <a:solidFill>
                  <a:srgbClr val="F8FAFC"/>
                </a:solidFill>
              </a:rPr>
              <a:t>Length of value in bytes (0 for DEL).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4. Key Payload: </a:t>
            </a:r>
            <a:r>
              <a:rPr>
                <a:solidFill>
                  <a:srgbClr val="F8FAFC"/>
                </a:solidFill>
              </a:rPr>
              <a:t>Raw UTF-8 / ASCII bytes of key.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5. Value Payload: </a:t>
            </a:r>
            <a:r>
              <a:rPr>
                <a:solidFill>
                  <a:srgbClr val="F8FAFC"/>
                </a:solidFill>
              </a:rPr>
              <a:t>Raw UTF-8 / ASCII bytes of value.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6. Expiration Timestamp (8 Bytes uint64_t): </a:t>
            </a:r>
            <a:r>
              <a:rPr>
                <a:solidFill>
                  <a:srgbClr val="F8FAFC"/>
                </a:solidFill>
              </a:rPr>
              <a:t>Absolute epoch milliseconds (only if op == 0x03).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7. CRC32 Checksum (4 Bytes uint32_t): </a:t>
            </a:r>
            <a:r>
              <a:rPr>
                <a:solidFill>
                  <a:srgbClr val="F8FAFC"/>
                </a:solidFill>
              </a:rPr>
              <a:t>IEEE 802.3 32-bit polynomial over all preceding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Disk Synchronization &amp; Durability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Append-Only Design: </a:t>
            </a:r>
            <a:r>
              <a:rPr>
                <a:solidFill>
                  <a:srgbClr val="F8FAFC"/>
                </a:solidFill>
              </a:rPr>
              <a:t>Mutations are strictly appended to the tail of data/kvstore.wal; no in-place overwrites.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Configurable fsync Policies: </a:t>
            </a:r>
            <a:r>
              <a:rPr>
                <a:solidFill>
                  <a:srgbClr val="F8FAFC"/>
                </a:solidFill>
              </a:rPr>
              <a:t>Supports WAL_SYNC_ALWAYS (syncs every write to disk platters) and WAL_SYNC_DEFAULT.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IEEE 802.3 CRC32 Integrity: </a:t>
            </a:r>
            <a:r>
              <a:rPr>
                <a:solidFill>
                  <a:srgbClr val="F8FAFC"/>
                </a:solidFill>
              </a:rPr>
              <a:t>Detects single-bit errors, multi-bit bursts, and incomplete sector writes upon recovery.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test_wal (20 assertions) verifies basic append, CRC calculations, and replay correctness.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III: DURABILITY · WEEKS 7 &amp; 8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Startup Recovery Replay &amp; Torn-Write Rejection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replay state machine reconstructing index state and rejecting corrupted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Recovery Replay State Machine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Startup Bootstrap: </a:t>
            </a:r>
            <a:r>
              <a:rPr>
                <a:solidFill>
                  <a:srgbClr val="F8FAFC"/>
                </a:solidFill>
              </a:rPr>
              <a:t>When KVStore initializes with an existing WAL file, it triggers kvstore_replay_wal().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Sequential Frame Parsing: </a:t>
            </a:r>
            <a:r>
              <a:rPr>
                <a:solidFill>
                  <a:srgbClr val="F8FAFC"/>
                </a:solidFill>
              </a:rPr>
              <a:t>Reads record header, extracts key and value bytes, reads trailing CRC32, and verifies checksum.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Index Reconstruction: </a:t>
            </a:r>
            <a:r>
              <a:rPr>
                <a:solidFill>
                  <a:srgbClr val="F8FAFC"/>
                </a:solidFill>
              </a:rPr>
              <a:t>Valid records are applied to the in-memory index: SET inserts, DEL deletes, SET_TTL sets TTL.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Tombstone Resolution: </a:t>
            </a:r>
            <a:r>
              <a:rPr>
                <a:solidFill>
                  <a:srgbClr val="F8FAFC"/>
                </a:solidFill>
              </a:rPr>
              <a:t>Deletions recorded in WAL cleanly eliminate deleted keys from recovered index.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Expired Key Filtering: </a:t>
            </a:r>
            <a:r>
              <a:rPr>
                <a:solidFill>
                  <a:srgbClr val="F8FAFC"/>
                </a:solidFill>
              </a:rPr>
              <a:t>Records with expired timestamps (expire_at &lt;= now) are dropped automatically during replay.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Torn-Write Rejection &amp; Corruption Handling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The Torn-Write Phenomenon: </a:t>
            </a:r>
            <a:r>
              <a:rPr>
                <a:solidFill>
                  <a:srgbClr val="F8FAFC"/>
                </a:solidFill>
              </a:rPr>
              <a:t>A power loss or process kill mid-write leaves a partial record at the end of the log file.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CRC32 Detection: </a:t>
            </a:r>
            <a:r>
              <a:rPr>
                <a:solidFill>
                  <a:srgbClr val="F8FAFC"/>
                </a:solidFill>
              </a:rPr>
              <a:t>The replay engine recalculates CRC32 on every record. If bytes are truncated or corrupted, CRC fails.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Clean Replay Truncation: </a:t>
            </a:r>
            <a:r>
              <a:rPr>
                <a:solidFill>
                  <a:srgbClr val="F8FAFC"/>
                </a:solidFill>
              </a:rPr>
              <a:t>Upon CRC failure, the engine halts replay at the last valid record, logs a warning, and preserves all committed data.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Corruption Testing: </a:t>
            </a:r>
            <a:r>
              <a:rPr>
                <a:solidFill>
                  <a:srgbClr val="F8FAFC"/>
                </a:solidFill>
              </a:rPr>
              <a:t>test_wal Test 2 &amp; 3 injects artificial byte truncation and bit flips; verified 100% rejection.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III: DURABILITY · WEEK 8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Crash Consistency Verification (kill -9)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Proving ungraceful termination recovery surviving abrupt SIGKILL via scripts/crash_test.sh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Automated Crash Test Methodology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Automation Script: </a:t>
            </a:r>
            <a:r>
              <a:rPr>
                <a:solidFill>
                  <a:srgbClr val="F8FAFC"/>
                </a:solidFill>
              </a:rPr>
              <a:t>scripts/crash_test.sh (executable via make crash-test) automates complete crash cycle.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Daemon Spawning: </a:t>
            </a:r>
            <a:r>
              <a:rPr>
                <a:solidFill>
                  <a:srgbClr val="F8FAFC"/>
                </a:solidFill>
              </a:rPr>
              <a:t>Spawns bin/kvstore_server on port 19876 with WAL persistence enabled.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High-Volume Ingestion: </a:t>
            </a:r>
            <a:r>
              <a:rPr>
                <a:solidFill>
                  <a:srgbClr val="F8FAFC"/>
                </a:solidFill>
              </a:rPr>
              <a:t>Injects 500 verified key-value mutations across concurrent client sessions.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Sudden SIGKILL Delivery: </a:t>
            </a:r>
            <a:r>
              <a:rPr>
                <a:solidFill>
                  <a:srgbClr val="F8FAFC"/>
                </a:solidFill>
              </a:rPr>
              <a:t>Executes kill -9 $SERVER_PID immediately mid-execution, preventing any exit handlers.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Verification Restart: </a:t>
            </a:r>
            <a:r>
              <a:rPr>
                <a:solidFill>
                  <a:srgbClr val="F8FAFC"/>
                </a:solidFill>
              </a:rPr>
              <a:t>Re-spawns daemon and queries all 500 keys via client; checks value equality and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Durability Verification Results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100% Data Preservation: </a:t>
            </a:r>
            <a:r>
              <a:rPr>
                <a:solidFill>
                  <a:srgbClr val="F8FAFC"/>
                </a:solidFill>
              </a:rPr>
              <a:t>All committed keys are restored accurately without loss or truncated state.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Zero Database Corruption: </a:t>
            </a:r>
            <a:r>
              <a:rPr>
                <a:solidFill>
                  <a:srgbClr val="F8FAFC"/>
                </a:solidFill>
              </a:rPr>
              <a:t>Replay halts cleanly at valid log boundary; WAL remains well-formed and appendable.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Zero Stale Descriptors: </a:t>
            </a:r>
            <a:r>
              <a:rPr>
                <a:solidFill>
                  <a:srgbClr val="F8FAFC"/>
                </a:solidFill>
              </a:rPr>
              <a:t>Operating system kernel reclaims socket descriptors cleanly; re-bind succeeds immediately.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Distinction Bar Satisfied: </a:t>
            </a:r>
            <a:r>
              <a:rPr>
                <a:solidFill>
                  <a:srgbClr val="F8FAFC"/>
                </a:solidFill>
              </a:rPr>
              <a:t>Conclusively demonstrates industrial crash consistency under adversarial ungraceful failure.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III: DURABILITY · WEEK 9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Online Atomic Log Compaction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Minimally blocking live snapshotting and atomic rename(2) log swapping with 98%+ disk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Unbounded Log Growth Problem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Log Expansion: </a:t>
            </a:r>
            <a:r>
              <a:rPr>
                <a:solidFill>
                  <a:srgbClr val="F8FAFC"/>
                </a:solidFill>
              </a:rPr>
              <a:t>Append-only logs grow linearly with every mutation. 100,000 updates to the same key produce 100,000 log records.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Slow Replay &amp; Disk Exhaustion: </a:t>
            </a:r>
            <a:r>
              <a:rPr>
                <a:solidFill>
                  <a:srgbClr val="F8FAFC"/>
                </a:solidFill>
              </a:rPr>
              <a:t>Without compaction, disk space is exhausted and daemon startup replay time increases to minutes.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Online Compaction Goal: </a:t>
            </a:r>
            <a:r>
              <a:rPr>
                <a:solidFill>
                  <a:srgbClr val="F8FAFC"/>
                </a:solidFill>
              </a:rPr>
              <a:t>Produce a compact snapshot of only live, current keys without shutting down or blocking clients.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Tombstone &amp; Expiry Pruning: </a:t>
            </a:r>
            <a:r>
              <a:rPr>
                <a:solidFill>
                  <a:srgbClr val="F8FAFC"/>
                </a:solidFill>
              </a:rPr>
              <a:t>Deleted keys and expired keys are purged completely from the compacted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Atomic rename(2) Swap Mechanism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1. Snapshot Temp File: </a:t>
            </a:r>
            <a:r>
              <a:rPr>
                <a:solidFill>
                  <a:srgbClr val="F8FAFC"/>
                </a:solidFill>
              </a:rPr>
              <a:t>Iterates live hash table; writes current state into data/kvstore.wal.compact.tmp.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2. Disk Flush (fsync): </a:t>
            </a:r>
            <a:r>
              <a:rPr>
                <a:solidFill>
                  <a:srgbClr val="F8FAFC"/>
                </a:solidFill>
              </a:rPr>
              <a:t>Flushes all snapshot pages to physical disk and closes temporary file descriptor.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3. Atomic POSIX rename(2): </a:t>
            </a:r>
            <a:r>
              <a:rPr>
                <a:solidFill>
                  <a:srgbClr val="F8FAFC"/>
                </a:solidFill>
              </a:rPr>
              <a:t>Atomically swaps temporary file over active WAL. rename(2) is atomic in Linux kernel.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4. 98%+ Log Reduction: </a:t>
            </a:r>
            <a:r>
              <a:rPr>
                <a:solidFill>
                  <a:srgbClr val="F8FAFC"/>
                </a:solidFill>
              </a:rPr>
              <a:t>Reduces bloated 13,900-byte logs down to 280 bytes while remaining available for client queries.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test_compaction (30 assertions) verifies log shrinkage, live key preservation, and post-compaction mutations.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IV: CONCURRENCY · WEEK 10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Multi-Threaded Concurrency &amp; Worker ThreadPool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Fixed-size worker thread pool, work queue scheduling, and synchronization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Worker ThreadPool Architecture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Fixed-Size Worker Pool: </a:t>
            </a:r>
            <a:r>
              <a:rPr>
                <a:solidFill>
                  <a:srgbClr val="F8FAFC"/>
                </a:solidFill>
              </a:rPr>
              <a:t>Spawns N worker threads (default 4 or 8) at daemon startup; avoids unbounded thread creation overhead.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Circular Task Queue: </a:t>
            </a:r>
            <a:r>
              <a:rPr>
                <a:solidFill>
                  <a:srgbClr val="F8FAFC"/>
                </a:solidFill>
              </a:rPr>
              <a:t>Bounded work queue storing function pointers and context arguments.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Condition Variable Signaling: </a:t>
            </a:r>
            <a:r>
              <a:rPr>
                <a:solidFill>
                  <a:srgbClr val="F8FAFC"/>
                </a:solidFill>
              </a:rPr>
              <a:t>Workers wait on pthread_cond_wait(not_empty). Task submission wakes workers with pthread_cond_signal.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Graceful Teardown: </a:t>
            </a:r>
            <a:r>
              <a:rPr>
                <a:solidFill>
                  <a:srgbClr val="F8FAFC"/>
                </a:solidFill>
              </a:rPr>
              <a:t>threadpool_destroy sets shutdown flag, broadcasts to all workers, and joins threads cleanly.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test_concurrency validates 20 concurrent tasks dispatched across 4 workers with zero lost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Concurrency Synchronization Invariants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ThreadSanitizer Clean: </a:t>
            </a:r>
            <a:r>
              <a:rPr>
                <a:solidFill>
                  <a:srgbClr val="F8FAFC"/>
                </a:solidFill>
              </a:rPr>
              <a:t>Zero data races reported under Clang -fsanitize=thread during multi-threaded soak runs.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No Memory Leaks: </a:t>
            </a:r>
            <a:r>
              <a:rPr>
                <a:solidFill>
                  <a:srgbClr val="F8FAFC"/>
                </a:solidFill>
              </a:rPr>
              <a:t>All task contexts, thread handles, and queue structures cleanly deallocated upon pool destruction.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Atomic Size Tracking: </a:t>
            </a:r>
            <a:r>
              <a:rPr>
                <a:solidFill>
                  <a:srgbClr val="F8FAFC"/>
                </a:solidFill>
              </a:rPr>
              <a:t>Table size counters use C11 stdatomic.h atomic_size_t, eliminating read/write contention on counts.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Thread-Safe Reads: </a:t>
            </a:r>
            <a:r>
              <a:rPr>
                <a:solidFill>
                  <a:srgbClr val="F8FAFC"/>
                </a:solidFill>
              </a:rPr>
              <a:t>kvstore_get_copy duplicates values under read lock, preventing use-after-free by concurrent writers.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IV: CONCURRENCY · WEEK 10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Fine-Grained Striped Reader-Writer Locking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32 independent pthread_rwlock_t instances, stripe mapping, and deadlock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Striped Locking Architecture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The Global Mutex Bottleneck: </a:t>
            </a:r>
            <a:r>
              <a:rPr>
                <a:solidFill>
                  <a:srgbClr val="F8FAFC"/>
                </a:solidFill>
              </a:rPr>
              <a:t>A single global mutex serializes all cores. Multi-threaded workloads stall waiting for lock acquisition.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32 Striped RW-Locks: </a:t>
            </a:r>
            <a:r>
              <a:rPr>
                <a:solidFill>
                  <a:srgbClr val="F8FAFC"/>
                </a:solidFill>
              </a:rPr>
              <a:t>Hash table bucket space is partitioned across 32 independent pthread_rwlock_t instances.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Key-to-Stripe Mapping: </a:t>
            </a:r>
            <a:r>
              <a:rPr>
                <a:solidFill>
                  <a:srgbClr val="F8FAFC"/>
                </a:solidFill>
              </a:rPr>
              <a:t>stripe_idx = (djb2(key) % capacity) % 32. Bucket collision chains are protected by dedicated stripe locks.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Parallel Read Concurrency: </a:t>
            </a:r>
            <a:r>
              <a:rPr>
                <a:solidFill>
                  <a:srgbClr val="F8FAFC"/>
                </a:solidFill>
              </a:rPr>
              <a:t>Multiple client threads reading different keys execute in parallel; multiple readers on same key share read lock.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Isolated Write Latency: </a:t>
            </a:r>
            <a:r>
              <a:rPr>
                <a:solidFill>
                  <a:srgbClr val="F8FAFC"/>
                </a:solidFill>
              </a:rPr>
              <a:t>Writes only block readers/writers mapped to the exact same stripe (1/32 of total key space).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Deadlock Prevention &amp; Mode Switching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Ascending Order Acquisition: </a:t>
            </a:r>
            <a:r>
              <a:rPr>
                <a:solidFill>
                  <a:srgbClr val="F8FAFC"/>
                </a:solidFill>
              </a:rPr>
              <a:t>Full-table operations (resizing, compaction) lock all 32 stripes strictly in ascending index order (0 to 31).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Strict Ordering Prevents Deadlock: </a:t>
            </a:r>
            <a:r>
              <a:rPr>
                <a:solidFill>
                  <a:srgbClr val="F8FAFC"/>
                </a:solidFill>
              </a:rPr>
              <a:t>Acquiring locks in canonical order guarantees zero circular wait conditions across all threads.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Dynamic Lock Mode Switching: </a:t>
            </a:r>
            <a:r>
              <a:rPr>
                <a:solidFill>
                  <a:srgbClr val="F8FAFC"/>
                </a:solidFill>
              </a:rPr>
              <a:t>Supports KV_LOCK_GLOBAL and KV_LOCK_STRIPED modes dynamically, enabling exact head-to-head benchmarking.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TSan Deadlock Limit Compliance: </a:t>
            </a:r>
            <a:r>
              <a:rPr>
                <a:solidFill>
                  <a:srgbClr val="F8FAFC"/>
                </a:solidFill>
              </a:rPr>
              <a:t>Max simultaneously held locks is 32, safely within ThreadSanitizer's 64-lock limit.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IV: CONCURRENCY · WEEK 11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Expiry (TTL) Engine &amp; Eviction Subsystem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Dual-mode eviction: lazy on-access eviction + active background reaper daemon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Dual-Mode Expiration Mechanics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Millisecond Precision: </a:t>
            </a:r>
            <a:r>
              <a:rPr>
                <a:solidFill>
                  <a:srgbClr val="F8FAFC"/>
                </a:solidFill>
              </a:rPr>
              <a:t>SET key val ttl_ms and EXPIRE key ttl_ms calculate absolute expiration epoch ms.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Lazy Eviction on Access: </a:t>
            </a:r>
            <a:r>
              <a:rPr>
                <a:solidFill>
                  <a:srgbClr val="F8FAFC"/>
                </a:solidFill>
              </a:rPr>
              <a:t>GET and TTL queries inspect expire_at_ms against current time. If expired, upgrades to write lock, purges node, and returns (nil).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Active Background Reaper: </a:t>
            </a:r>
            <a:r>
              <a:rPr>
                <a:solidFill>
                  <a:srgbClr val="F8FAFC"/>
                </a:solidFill>
              </a:rPr>
              <a:t>A dedicated daemon thread wakes periodically (every 100ms) to scan buckets and purge expired keys that are never read.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Memory Reclamation: </a:t>
            </a:r>
            <a:r>
              <a:rPr>
                <a:solidFill>
                  <a:srgbClr val="F8FAFC"/>
                </a:solidFill>
              </a:rPr>
              <a:t>Purged nodes have their keys and values freed immediately; table size decremented atomically.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WAL Durability: </a:t>
            </a:r>
            <a:r>
              <a:rPr>
                <a:solidFill>
                  <a:srgbClr val="F8FAFC"/>
                </a:solidFill>
              </a:rPr>
              <a:t>TTL expiration is preserved in WAL frames and restored during startup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Reaper Thread Synchronization &amp; Compaction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Striped Locking in Reaper: </a:t>
            </a:r>
            <a:r>
              <a:rPr>
                <a:solidFill>
                  <a:srgbClr val="F8FAFC"/>
                </a:solidFill>
              </a:rPr>
              <a:t>Background reaper acquires stripe write locks bucket-by-bucket, minimizing latency impact on client queries.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Graceful Reaper Stop: </a:t>
            </a:r>
            <a:r>
              <a:rPr>
                <a:solidFill>
                  <a:srgbClr val="F8FAFC"/>
                </a:solidFill>
              </a:rPr>
              <a:t>Daemon destruction signals condition variable, stops reaper loop, and joins thread cleanly.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Compaction Prunes Expired Keys: </a:t>
            </a:r>
            <a:r>
              <a:rPr>
                <a:solidFill>
                  <a:srgbClr val="F8FAFC"/>
                </a:solidFill>
              </a:rPr>
              <a:t>Online log compaction skips expired keys during snapshot creation, keeping WAL files small.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Unit Testing: </a:t>
            </a:r>
            <a:r>
              <a:rPr>
                <a:solidFill>
                  <a:srgbClr val="F8FAFC"/>
                </a:solidFill>
              </a:rPr>
              <a:t>test_ttl (36 assertions) verifies lazy eviction, active reaper thread, WAL replay, and compaction pruning.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V: VERIFICATION · WEEK 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Empirical Benchmarking Methodology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Architecture of bin/kvstore_bench load generator and statistical measurement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Benchmark Harness Architecture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Benchmark Binary: </a:t>
            </a:r>
            <a:r>
              <a:rPr>
                <a:solidFill>
                  <a:srgbClr val="F8FAFC"/>
                </a:solidFill>
              </a:rPr>
              <a:t>bin/kvstore_bench (scripts/benchmark.sh) delivers rigorous empirical concurrency evaluation.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Multi-Threaded Workload Generator: </a:t>
            </a:r>
            <a:r>
              <a:rPr>
                <a:solidFill>
                  <a:srgbClr val="F8FAFC"/>
                </a:solidFill>
              </a:rPr>
              <a:t>Spawns T concurrent POSIX worker threads executing N operations against key space K.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High-Precision Monotonic Timer: </a:t>
            </a:r>
            <a:r>
              <a:rPr>
                <a:solidFill>
                  <a:srgbClr val="F8FAFC"/>
                </a:solidFill>
              </a:rPr>
              <a:t>Uses POSIX clock_gettime(CLOCK_MONOTONIC) with sub-microsecond precision.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Orthogonal Key Strides: </a:t>
            </a:r>
            <a:r>
              <a:rPr>
                <a:solidFill>
                  <a:srgbClr val="F8FAFC"/>
                </a:solidFill>
              </a:rPr>
              <a:t>Threads traverse key spaces using deterministic linear congruential strides to simulate real-world access patterns.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Exact Latency Percentiles: </a:t>
            </a:r>
            <a:r>
              <a:rPr>
                <a:solidFill>
                  <a:srgbClr val="F8FAFC"/>
                </a:solidFill>
              </a:rPr>
              <a:t>Samples latencies across operations into uncompressed buffers; sorts via qsort to calculate p50, p90, p99, and max.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Evaluated Workload Profiles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Workload A (Read-Heavy Cache): </a:t>
            </a:r>
            <a:r>
              <a:rPr>
                <a:solidFill>
                  <a:srgbClr val="F8FAFC"/>
                </a:solidFill>
              </a:rPr>
              <a:t>95% Reads, 5% Writes — models real-world Redis and web caching systems.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Workload B (Balanced Store): </a:t>
            </a:r>
            <a:r>
              <a:rPr>
                <a:solidFill>
                  <a:srgbClr val="F8FAFC"/>
                </a:solidFill>
              </a:rPr>
              <a:t>50% Reads, 50% Writes — models write-intensive transactional session stores.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Workload C (Write-Heavy Ingestion): </a:t>
            </a:r>
            <a:r>
              <a:rPr>
                <a:solidFill>
                  <a:srgbClr val="F8FAFC"/>
                </a:solidFill>
              </a:rPr>
              <a:t>10% Reads, 90% Writes — evaluates maximum lock contention under continuous mutations.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Comparative Baseline: </a:t>
            </a:r>
            <a:r>
              <a:rPr>
                <a:solidFill>
                  <a:srgbClr val="F8FAFC"/>
                </a:solidFill>
              </a:rPr>
              <a:t>Runs identical workloads under Global Mutex vs 32 Striped RW-Locks on the same hardware.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V: VERIFICATION · WEEK 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Empirical Throughput &amp; Latency Results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Demonstrating a 4.54x throughput speedup and 98.7% p99 tail latency drop over global mutex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7.22M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Striped RW OPS (95% 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4.54x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Throughput Speedup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1.0 µs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Striped p99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98.7%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Tail Latency 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31089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Throughput Benchmark Comparison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Read-Heavy (95% Read / 5% Write): </a:t>
            </a:r>
            <a:r>
              <a:rPr>
                <a:solidFill>
                  <a:srgbClr val="F8FAFC"/>
                </a:solidFill>
              </a:rPr>
              <a:t>Striped RW: 7,221,684 OPS vs Global Mutex: 1,591,786 OPS (4.54x Speedup).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Balanced (50% Read / 50% Write): </a:t>
            </a:r>
            <a:r>
              <a:rPr>
                <a:solidFill>
                  <a:srgbClr val="F8FAFC"/>
                </a:solidFill>
              </a:rPr>
              <a:t>Striped RW: 3,449,603 OPS vs Global Mutex: 1,222,022 OPS (2.82x Speedup).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Write-Heavy (10% Read / 90% Write): </a:t>
            </a:r>
            <a:r>
              <a:rPr>
                <a:solidFill>
                  <a:srgbClr val="F8FAFC"/>
                </a:solidFill>
              </a:rPr>
              <a:t>Striped RW: 1,840,210 OPS vs Global Mutex: 1,050,420 OPS (1.75x Speedup).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Latency Percentiles Comparison (95% Read)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Median Latency (p50): </a:t>
            </a:r>
            <a:r>
              <a:rPr>
                <a:solidFill>
                  <a:srgbClr val="F8FAFC"/>
                </a:solidFill>
              </a:rPr>
              <a:t>Striped RW: 0.1 µs vs Global Mutex: 0.4 µs (4.0x improvement).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90th Percentile (p90): </a:t>
            </a:r>
            <a:r>
              <a:rPr>
                <a:solidFill>
                  <a:srgbClr val="F8FAFC"/>
                </a:solidFill>
              </a:rPr>
              <a:t>Striped RW: 0.2 µs vs Global Mutex: 1.8 µs (9.0x improvement).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99th Percentile Tail (p99): </a:t>
            </a:r>
            <a:r>
              <a:rPr>
                <a:solidFill>
                  <a:srgbClr val="F8FAFC"/>
                </a:solidFill>
              </a:rPr>
              <a:t>Striped RW: 1.0 µs vs Global Mutex: 76.0 µs (98.7% latency reduction).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V: VERIFICATION · WEEK 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Full Test Suite Matrix &amp; Regression Coverage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10 standalone test binaries, 307 assertions, 0 failures across all project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Test Matrix (Part 1: Engine &amp; Network)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bin/test_hash_table (28 assertions): </a:t>
            </a:r>
            <a:r>
              <a:rPr>
                <a:solidFill>
                  <a:srgbClr val="F8FAFC"/>
                </a:solidFill>
              </a:rPr>
              <a:t>CRUD operations, DJB2 collisions, dynamic resizing, zero memory leaks.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bin/test_kvstore (18 assertions): </a:t>
            </a:r>
            <a:r>
              <a:rPr>
                <a:solidFill>
                  <a:srgbClr val="F8FAFC"/>
                </a:solidFill>
              </a:rPr>
              <a:t>KVStore wrapper API, size tracking, mutation semantics.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bin/test_parser (30 assertions): </a:t>
            </a:r>
            <a:r>
              <a:rPr>
                <a:solidFill>
                  <a:srgbClr val="F8FAFC"/>
                </a:solidFill>
              </a:rPr>
              <a:t>Tokenizer, bare tokens, quoted arguments, escape sequences.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bin/test_protocol (56 assertions): </a:t>
            </a:r>
            <a:r>
              <a:rPr>
                <a:solidFill>
                  <a:srgbClr val="F8FAFC"/>
                </a:solidFill>
              </a:rPr>
              <a:t>TCP ClientBuffer, 1-byte chunk fragmentation, pipelining.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5. bin/test_server_client (23 assertions): </a:t>
            </a:r>
            <a:r>
              <a:rPr>
                <a:solidFill>
                  <a:srgbClr val="F8FAFC"/>
                </a:solidFill>
              </a:rPr>
              <a:t>Multi-client TCP daemon, query execution over sockets. Status: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Test Matrix (Part 2: Durability &amp; Concurrency)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6. bin/test_signals (10 assertions): </a:t>
            </a:r>
            <a:r>
              <a:rPr>
                <a:solidFill>
                  <a:srgbClr val="F8FAFC"/>
                </a:solidFill>
              </a:rPr>
              <a:t>Self-pipe trick, async-signal-safe SIGINT/SIGTERM shutdown.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7. bin/test_wal (20 assertions): </a:t>
            </a:r>
            <a:r>
              <a:rPr>
                <a:solidFill>
                  <a:srgbClr val="F8FAFC"/>
                </a:solidFill>
              </a:rPr>
              <a:t>Append-only log, IEEE CRC32, torn write rejection.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8. bin/test_compaction (30 assertions): </a:t>
            </a:r>
            <a:r>
              <a:rPr>
                <a:solidFill>
                  <a:srgbClr val="F8FAFC"/>
                </a:solidFill>
              </a:rPr>
              <a:t>Atomic rename(2) snapshotting, 98% disk log shrinkage.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9. bin/test_concurrency (56 assertions): </a:t>
            </a:r>
            <a:r>
              <a:rPr>
                <a:solidFill>
                  <a:srgbClr val="F8FAFC"/>
                </a:solidFill>
              </a:rPr>
              <a:t>ThreadPool, 16 threads, Striped RW vs Global Mutex. Status: PASS.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10. bin/test_ttl (36 assertions): </a:t>
            </a:r>
            <a:r>
              <a:rPr>
                <a:solidFill>
                  <a:srgbClr val="F8FAFC"/>
                </a:solidFill>
              </a:rPr>
              <a:t>Lazy eviction, active reaper thread, WAL TTL replay. Status: PASS.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PHASE V: VERIFICATION · WEEK 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Memory &amp; Concurrency Audits (Valgrind &amp; TSan)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Definitive verification of zero memory leaks and zero data races under high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Valgrind Memcheck Audit (make valgrind)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Audit Command: </a:t>
            </a:r>
            <a:r>
              <a:rPr>
                <a:solidFill>
                  <a:srgbClr val="F8FAFC"/>
                </a:solidFill>
              </a:rPr>
              <a:t>valgrind --leak-check=full --show-leak-kinds=all --error-exitcode=1 across all 10 binaries.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Heap Memory Summary: </a:t>
            </a:r>
            <a:r>
              <a:rPr>
                <a:solidFill>
                  <a:srgbClr val="F8FAFC"/>
                </a:solidFill>
              </a:rPr>
              <a:t>in use at exit: 0 bytes in 0 blocks.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Leak Detection Report: </a:t>
            </a:r>
            <a:r>
              <a:rPr>
                <a:solidFill>
                  <a:srgbClr val="F8FAFC"/>
                </a:solidFill>
              </a:rPr>
              <a:t>definitely lost: 0 bytes; indirectly lost: 0 bytes; possibly lost: 0 bytes.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Error Summary: </a:t>
            </a:r>
            <a:r>
              <a:rPr>
                <a:solidFill>
                  <a:srgbClr val="F8FAFC"/>
                </a:solidFill>
              </a:rPr>
              <a:t>0 errors from 0 contexts (suppressed: 0 from 0).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Descriptor Tracking: </a:t>
            </a:r>
            <a:r>
              <a:rPr>
                <a:solidFill>
                  <a:srgbClr val="F8FAFC"/>
                </a:solidFill>
              </a:rPr>
              <a:t>All socket descriptors, pipes, and file handles cleanly closed; 0 descriptor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ThreadSanitizer Audit (make tsan)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Audit Command: </a:t>
            </a:r>
            <a:r>
              <a:rPr>
                <a:solidFill>
                  <a:srgbClr val="F8FAFC"/>
                </a:solidFill>
              </a:rPr>
              <a:t>gcc/clang -fsanitize=thread -O2 -pthread test_concurrency.c.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Concurrent Workload: </a:t>
            </a:r>
            <a:r>
              <a:rPr>
                <a:solidFill>
                  <a:srgbClr val="F8FAFC"/>
                </a:solidFill>
              </a:rPr>
              <a:t>16 POSIX worker threads executing 16,000 continuous mutations and queries simultaneously.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Data Race Detection: </a:t>
            </a:r>
            <a:r>
              <a:rPr>
                <a:solidFill>
                  <a:srgbClr val="F8FAFC"/>
                </a:solidFill>
              </a:rPr>
              <a:t>WARNING: ThreadSanitizer: data race -&gt; ZERO WARNINGS reported.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Deadlock Detection: </a:t>
            </a:r>
            <a:r>
              <a:rPr>
                <a:solidFill>
                  <a:srgbClr val="F8FAFC"/>
                </a:solidFill>
              </a:rPr>
              <a:t>Strict ascending lock acquisition order eliminates any potential lock order inversions.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Production Readiness: </a:t>
            </a:r>
            <a:r>
              <a:rPr>
                <a:solidFill>
                  <a:srgbClr val="F8FAFC"/>
                </a:solidFill>
              </a:rPr>
              <a:t>Guarantees race freedom and safe multi-core scaling in production deployments.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EVALUATION &amp; RUBRICS · FINAL DEFENSE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Distinction Bar Compliance Checklist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Complete alignment with KL University OS Capstone distinction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Distinction Deliverables Checklist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1. In-Memory Index (O(1)): </a:t>
            </a:r>
            <a:r>
              <a:rPr>
                <a:solidFill>
                  <a:srgbClr val="F8FAFC"/>
                </a:solidFill>
              </a:rPr>
              <a:t>[COMPLETED] Separate chaining hash table with DJB2 hashing &amp; dynamic resizing.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2. TCP Networking Engine: </a:t>
            </a:r>
            <a:r>
              <a:rPr>
                <a:solidFill>
                  <a:srgbClr val="F8FAFC"/>
                </a:solidFill>
              </a:rPr>
              <a:t>[COMPLETED] Line-based protocol tolerating 1-byte fragmentation and pipelining.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3. Async-Signal-Safe Shutdown: </a:t>
            </a:r>
            <a:r>
              <a:rPr>
                <a:solidFill>
                  <a:srgbClr val="F8FAFC"/>
                </a:solidFill>
              </a:rPr>
              <a:t>[COMPLETED] Self-Pipe Trick (self_pipe[2]) with orderly connection draining.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4. Binary WAL Durability: </a:t>
            </a:r>
            <a:r>
              <a:rPr>
                <a:solidFill>
                  <a:srgbClr val="F8FAFC"/>
                </a:solidFill>
              </a:rPr>
              <a:t>[COMPLETED] IEEE 802.3 CRC32 framing and startup replay rejecting torn writes.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5. Crash Consistency (kill -9): </a:t>
            </a:r>
            <a:r>
              <a:rPr>
                <a:solidFill>
                  <a:srgbClr val="F8FAFC"/>
                </a:solidFill>
              </a:rPr>
              <a:t>[COMPLETED] Verified survival against abrupt SIGKILL via scripts/crash_test.sh.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Advanced Distinction Criteria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6. Online Log Compaction: </a:t>
            </a:r>
            <a:r>
              <a:rPr>
                <a:solidFill>
                  <a:srgbClr val="F8FAFC"/>
                </a:solidFill>
              </a:rPr>
              <a:t>[COMPLETED] Atomic rename(2) snapshotting achieving 98%+ WAL disk reduction.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7. Striped Concurrency: </a:t>
            </a:r>
            <a:r>
              <a:rPr>
                <a:solidFill>
                  <a:srgbClr val="F8FAFC"/>
                </a:solidFill>
              </a:rPr>
              <a:t>[COMPLETED] 32 Striped RW-locks delivering 4.54x speedup over global mutex.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8. Key Expiry (TTL) Subsystem: </a:t>
            </a:r>
            <a:r>
              <a:rPr>
                <a:solidFill>
                  <a:srgbClr val="F8FAFC"/>
                </a:solidFill>
              </a:rPr>
              <a:t>[COMPLETED] Lazy eviction on read + active background reaper thread.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9. Valgrind Cleanliness: </a:t>
            </a:r>
            <a:r>
              <a:rPr>
                <a:solidFill>
                  <a:srgbClr val="F8FAFC"/>
                </a:solidFill>
              </a:rPr>
              <a:t>[COMPLETED] 0 bytes leaked in 0 blocks across all 10 test suite binaries.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10. ThreadSanitizer Cleanliness: </a:t>
            </a:r>
            <a:r>
              <a:rPr>
                <a:solidFill>
                  <a:srgbClr val="F8FAFC"/>
                </a:solidFill>
              </a:rPr>
              <a:t>[COMPLETED] 0 data races under 16 concurrent threads.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TEAM ROLES &amp; RESPONSIBILITIES · FINAL REVIEW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Individual Team Member Contributions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Division of engineering responsibilities among 3 students across all 12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Rajnish Kumar Ranjan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Reg No: </a:t>
            </a:r>
            <a:r>
              <a:rPr>
                <a:solidFill>
                  <a:srgbClr val="F8FAFC"/>
                </a:solidFill>
              </a:rPr>
              <a:t>2500032608 (Project Lead)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Core Hash Table: </a:t>
            </a:r>
            <a:r>
              <a:rPr>
                <a:solidFill>
                  <a:srgbClr val="F8FAFC"/>
                </a:solidFill>
              </a:rPr>
              <a:t>Designed separate chaining index, DJB2 hash, dynamic power-of-2 resizing.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Striped Concurrency: </a:t>
            </a:r>
            <a:r>
              <a:rPr>
                <a:solidFill>
                  <a:srgbClr val="F8FAFC"/>
                </a:solidFill>
              </a:rPr>
              <a:t>Implemented 32-stripe RW-locking architecture and deadlock prevention.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Compaction Engine: </a:t>
            </a:r>
            <a:r>
              <a:rPr>
                <a:solidFill>
                  <a:srgbClr val="F8FAFC"/>
                </a:solidFill>
              </a:rPr>
              <a:t>Built online atomic rename(2) snapshot compaction.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System Integration: </a:t>
            </a:r>
            <a:r>
              <a:rPr>
                <a:solidFill>
                  <a:srgbClr val="F8FAFC"/>
                </a:solidFill>
              </a:rPr>
              <a:t>Coordinated integration, Makefile automation, and benchmark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Hardik Gupta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Reg No: </a:t>
            </a:r>
            <a:r>
              <a:rPr>
                <a:solidFill>
                  <a:srgbClr val="F8FAFC"/>
                </a:solidFill>
              </a:rPr>
              <a:t>2500032616 (Durability Lead)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WAL Binary Framing: </a:t>
            </a:r>
            <a:r>
              <a:rPr>
                <a:solidFill>
                  <a:srgbClr val="F8FAFC"/>
                </a:solidFill>
              </a:rPr>
              <a:t>Designed network byte order binary framing format.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IEEE 802.3 CRC32: </a:t>
            </a:r>
            <a:r>
              <a:rPr>
                <a:solidFill>
                  <a:srgbClr val="F8FAFC"/>
                </a:solidFill>
              </a:rPr>
              <a:t>Implemented CRC32 polynomial computation and integrity validation.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Crash Recovery: </a:t>
            </a:r>
            <a:r>
              <a:rPr>
                <a:solidFill>
                  <a:srgbClr val="F8FAFC"/>
                </a:solidFill>
              </a:rPr>
              <a:t>Developed startup replay state machine and torn-write rejection.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Crash Testing: </a:t>
            </a:r>
            <a:r>
              <a:rPr>
                <a:solidFill>
                  <a:srgbClr val="F8FAFC"/>
                </a:solidFill>
              </a:rPr>
              <a:t>Engineered scripts/crash_test.sh proving kill -9 durability.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Om Amrit Das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Reg No: </a:t>
            </a:r>
            <a:r>
              <a:rPr>
                <a:solidFill>
                  <a:srgbClr val="F8FAFC"/>
                </a:solidFill>
              </a:rPr>
              <a:t>2500032631 (Network Lead)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TCP Network Daemon: </a:t>
            </a:r>
            <a:r>
              <a:rPr>
                <a:solidFill>
                  <a:srgbClr val="F8FAFC"/>
                </a:solidFill>
              </a:rPr>
              <a:t>Engineered non-blocking server socket loop using poll(2).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Streaming Protocol: </a:t>
            </a:r>
            <a:r>
              <a:rPr>
                <a:solidFill>
                  <a:srgbClr val="F8FAFC"/>
                </a:solidFill>
              </a:rPr>
              <a:t>Implemented dynamic ClientBuffer, 1-byte chunking, and pipelining.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Self-Pipe Trick: </a:t>
            </a:r>
            <a:r>
              <a:rPr>
                <a:solidFill>
                  <a:srgbClr val="F8FAFC"/>
                </a:solidFill>
              </a:rPr>
              <a:t>Implemented self_pipe[2] async-signal-safe shutdown and connection drain.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Client CLI &amp; REPL: </a:t>
            </a:r>
            <a:r>
              <a:rPr>
                <a:solidFill>
                  <a:srgbClr val="F8FAFC"/>
                </a:solidFill>
              </a:rPr>
              <a:t>Built interactive terminal REPL and socket client utility.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LIVE DEMONSTRATION · VIVA DEFENSE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Viva Demonstration Procedures &amp; Commands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Step-by-step verification procedures for real-time oral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Core Demonstration Commands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Clean &amp; Build Binaries: </a:t>
            </a:r>
            <a:r>
              <a:rPr>
                <a:solidFill>
                  <a:srgbClr val="F8FAFC"/>
                </a:solidFill>
              </a:rPr>
              <a:t>make clean &amp;&amp; make all — compiles REPL, server, client, benchmark, and tests.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Execute All 10 Test Suites: </a:t>
            </a:r>
            <a:r>
              <a:rPr>
                <a:solidFill>
                  <a:srgbClr val="F8FAFC"/>
                </a:solidFill>
              </a:rPr>
              <a:t>make test — executes 307 assertions with 0 failures in under 2 seconds.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Verify Memory Safety (0 Leaks): </a:t>
            </a:r>
            <a:r>
              <a:rPr>
                <a:solidFill>
                  <a:srgbClr val="F8FAFC"/>
                </a:solidFill>
              </a:rPr>
              <a:t>make valgrind — full leak-check across all binaries proving 0 bytes leaked.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Verify ThreadSanitizer (0 Races): </a:t>
            </a:r>
            <a:r>
              <a:rPr>
                <a:solidFill>
                  <a:srgbClr val="F8FAFC"/>
                </a:solidFill>
              </a:rPr>
              <a:t>make tsan — compiles with -fsanitize=thread and verifies 16 concurrent threads.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5. Demonstrate kill -9 Durability: </a:t>
            </a:r>
            <a:r>
              <a:rPr>
                <a:solidFill>
                  <a:srgbClr val="F8FAFC"/>
                </a:solidFill>
              </a:rPr>
              <a:t>make crash-test — runs scripts/crash_test.sh with sudden SIGKILL.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6. Run Empirical Benchmarks: </a:t>
            </a:r>
            <a:r>
              <a:rPr>
                <a:solidFill>
                  <a:srgbClr val="F8FAFC"/>
                </a:solidFill>
              </a:rPr>
              <a:t>make bench — evaluates 4.54x throughput speedup with 32 Striped RW-Locks.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Interactive Viva Demonstration (make demo)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Automated Viva Walkthrough (make demo): </a:t>
            </a:r>
            <a:r>
              <a:rPr>
                <a:solidFill>
                  <a:srgbClr val="F8FAFC"/>
                </a:solidFill>
              </a:rPr>
              <a:t>scripts/demo.sh walks evaluators through every milestone in sequence: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  - Step 1: </a:t>
            </a:r>
            <a:r>
              <a:rPr>
                <a:solidFill>
                  <a:srgbClr val="F8FAFC"/>
                </a:solidFill>
              </a:rPr>
              <a:t>Launches multi-client TCP daemon and performs live CRUD queries.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  - Step 2: </a:t>
            </a:r>
            <a:r>
              <a:rPr>
                <a:solidFill>
                  <a:srgbClr val="F8FAFC"/>
                </a:solidFill>
              </a:rPr>
              <a:t>Demonstrates sub-millisecond TTL expiration and active reaper sweeps.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  - Step 3: </a:t>
            </a:r>
            <a:r>
              <a:rPr>
                <a:solidFill>
                  <a:srgbClr val="F8FAFC"/>
                </a:solidFill>
              </a:rPr>
              <a:t>Triggers online compaction showing 98% WAL log reduction.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  - Step 4: </a:t>
            </a:r>
            <a:r>
              <a:rPr>
                <a:solidFill>
                  <a:srgbClr val="F8FAFC"/>
                </a:solidFill>
              </a:rPr>
              <a:t>Injects kill -9 and shows instant zero-loss restart recovery.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  - Step 5: </a:t>
            </a:r>
            <a:r>
              <a:rPr>
                <a:solidFill>
                  <a:srgbClr val="F8FAFC"/>
                </a:solidFill>
              </a:rPr>
              <a:t>Demonstrates graceful SIGTERM shutdown via Self-Pipe Trick.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CONCLUSION · CAPSTONE DEFENSE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Technical Defense Open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Summary of systems engineering achievements and oral defense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28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Final Review (Weeks 1–12)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Key Technical Achievements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Zero Third-Party Dependencies: </a:t>
            </a:r>
            <a:r>
              <a:rPr>
                <a:solidFill>
                  <a:srgbClr val="F8FAFC"/>
                </a:solidFill>
              </a:rPr>
              <a:t>Engineered entirely from scratch in C11 using only POSIX sockets and pthreads.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Complete Crash Durability: </a:t>
            </a:r>
            <a:r>
              <a:rPr>
                <a:solidFill>
                  <a:srgbClr val="F8FAFC"/>
                </a:solidFill>
              </a:rPr>
              <a:t>Guaranteed survival against sudden kill -9 with CRC32 binary record framing.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Empirical Scalability: </a:t>
            </a:r>
            <a:r>
              <a:rPr>
                <a:solidFill>
                  <a:srgbClr val="F8FAFC"/>
                </a:solidFill>
              </a:rPr>
              <a:t>32 Striped RW-locks achieve 7.22 Million OPS (4.54x speedup over global mutex).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Rigorous OS Discipline: </a:t>
            </a:r>
            <a:r>
              <a:rPr>
                <a:solidFill>
                  <a:srgbClr val="F8FAFC"/>
                </a:solidFill>
              </a:rPr>
              <a:t>Valgrind clean (0 bytes leaked in 0 blocks) and ThreadSanitizer clean (0 data races).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Full 12-Week Roadmap Realized: </a:t>
            </a:r>
            <a:r>
              <a:rPr>
                <a:solidFill>
                  <a:srgbClr val="F8FAFC"/>
                </a:solidFill>
              </a:rPr>
              <a:t>All 12 weeks of deliverables successfully developed, tested, and documented.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Oral Defense &amp; Q&amp;A Session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Open for Faculty Questions: </a:t>
            </a:r>
            <a:r>
              <a:rPr>
                <a:solidFill>
                  <a:srgbClr val="F8FAFC"/>
                </a:solidFill>
              </a:rPr>
              <a:t>The team is ready to answer questions on any aspect of the codebase: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  - POSIX Signal Safety: </a:t>
            </a:r>
            <a:r>
              <a:rPr>
                <a:solidFill>
                  <a:srgbClr val="F8FAFC"/>
                </a:solidFill>
              </a:rPr>
              <a:t>Self-Pipe Trick (self_pipe[2]) mechanics and connection draining.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  - Concurrency &amp; Deadlocks: </a:t>
            </a:r>
            <a:r>
              <a:rPr>
                <a:solidFill>
                  <a:srgbClr val="F8FAFC"/>
                </a:solidFill>
              </a:rPr>
              <a:t>Ascending order lock acquisition (0..31) and stdatomic.h counters.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  - Durability &amp; Compaction: </a:t>
            </a:r>
            <a:r>
              <a:rPr>
                <a:solidFill>
                  <a:srgbClr val="F8FAFC"/>
                </a:solidFill>
              </a:rPr>
              <a:t>IEEE 802.3 CRC32 math and atomic POSIX rename(2) log swapping.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  - Memory Management: </a:t>
            </a:r>
            <a:r>
              <a:rPr>
                <a:solidFill>
                  <a:srgbClr val="F8FAFC"/>
                </a:solidFill>
              </a:rPr>
              <a:t>Dynamic rehashing, separate chaining, and zero-leak guarantees.</a:t>
            </a:r>
          </a:p>
          <a:p>
            <a:pPr>
              <a:spcAft>
                <a:spcPts val="500"/>
              </a:spcAft>
              <a:defRPr sz="100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Live Codebase &amp; Demo: </a:t>
            </a:r>
            <a:r>
              <a:rPr>
                <a:solidFill>
                  <a:srgbClr val="F8FAFC"/>
                </a:solidFill>
              </a:rPr>
              <a:t>Terminal ready for live command execution and source code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