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389120"/>
            <a:ext cx="2926080" cy="2926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86868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OS CAPSTONE · INTERNAL REVIEW 1 · WEEK 3</a:t>
            </a:r>
          </a:p>
          <a:p>
            <a:pPr>
              <a:spcAft>
                <a:spcPts val="600"/>
              </a:spcAft>
              <a:defRPr sz="5600" b="1">
                <a:solidFill>
                  <a:srgbClr val="F8FAFC"/>
                </a:solidFill>
                <a:latin typeface="Segoe UI"/>
              </a:defRPr>
            </a:pPr>
            <a:r>
              <a:t>KVStore</a:t>
            </a:r>
          </a:p>
          <a:p>
            <a:pPr>
              <a:spcAft>
                <a:spcPts val="16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A persistent key-value store built from scratch in C11</a:t>
            </a:r>
          </a:p>
          <a:p>
            <a:pPr>
              <a:defRPr sz="1200">
                <a:solidFill>
                  <a:srgbClr val="38BDF8"/>
                </a:solidFill>
                <a:latin typeface="Consolas"/>
              </a:defRPr>
            </a:pPr>
            <a:r>
              <a:t>github.com/really-rajnish/KVStore  ·  Project 19 (Approved 25 Use Cases)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572000"/>
            <a:ext cx="9601200" cy="146304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10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TEAM 3 STUDENTS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rPr b="1"/>
              <a:t>Rajnish Kumar Ranjan · 2500032608        </a:t>
            </a:r>
            <a:r>
              <a:rPr b="1"/>
              <a:t>Hardik Gupta · 2500032616        </a:t>
            </a:r>
            <a:r>
              <a:rPr b="1"/>
              <a:t>Om Amrit Das · 2500032631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1. PROJECT IDENTIFICATION · RUBRIC 1 (5 MARKS)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Problem Statement &amp; Engineering Motivation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Why build an industrial-grade concurrent key-value store from scratch in C11?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Review 1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The Core Dilemma: Memory Speed vs Persistence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Memory Volatility: </a:t>
            </a:r>
            <a:r>
              <a:rPr>
                <a:solidFill>
                  <a:srgbClr val="F8FAFC"/>
                </a:solidFill>
              </a:rPr>
              <a:t>Pure in-memory stores (like Redis in cache mode) achieve sub-millisecond latencies but suffer catastrophic total data loss upon sudden process termination, power outages, or kernel panics.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I/O Latency Penalty: </a:t>
            </a:r>
            <a:r>
              <a:rPr>
                <a:solidFill>
                  <a:srgbClr val="F8FAFC"/>
                </a:solidFill>
              </a:rPr>
              <a:t>Traditional relational &amp; document databases guarantee durability using heavy disk I/O, incurring orders-of-magnitude slower write throughput and high p99 latency spikes.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Opaque Runtimes: </a:t>
            </a:r>
            <a:r>
              <a:rPr>
                <a:solidFill>
                  <a:srgbClr val="F8FAFC"/>
                </a:solidFill>
              </a:rPr>
              <a:t>Production caching tools rely on massive codebases with complex external dependencies, hiding the critical operating system mechanics from systems engineers.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Educational Mandate: </a:t>
            </a:r>
            <a:r>
              <a:rPr>
                <a:solidFill>
                  <a:srgbClr val="F8FAFC"/>
                </a:solidFill>
              </a:rPr>
              <a:t>Understanding how the OS coordinates virtual memory, file descriptors, signals, and multi-core scheduling requires building every tier from pure POSIX primitives.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A78BFA"/>
                </a:solidFill>
                <a:latin typeface="Segoe UI"/>
              </a:defRPr>
            </a:pPr>
            <a:r>
              <a:t>Core Operating System Challenges Addressed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1. Crash Consistency (kill -9): </a:t>
            </a:r>
            <a:r>
              <a:rPr>
                <a:solidFill>
                  <a:srgbClr val="F8FAFC"/>
                </a:solidFill>
              </a:rPr>
              <a:t>Guaranteeing zero corrupted states or broken records when a daemon is terminated abruptly mid-write without calling exit handlers.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2. Reader-Writer Lock Contention: </a:t>
            </a:r>
            <a:r>
              <a:rPr>
                <a:solidFill>
                  <a:srgbClr val="F8FAFC"/>
                </a:solidFill>
              </a:rPr>
              <a:t>Coarse-grained global mutexes serialize all multi-core throughput. Concurrency requires fine-grained striped synchronization.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3. Asynchronous Signal Safety: </a:t>
            </a:r>
            <a:r>
              <a:rPr>
                <a:solidFill>
                  <a:srgbClr val="F8FAFC"/>
                </a:solidFill>
              </a:rPr>
              <a:t>POSIX signal handlers (SIGINT, SIGTERM) cannot safely call printf, malloc, or socket functions; clean shutdown requires the Self-Pipe Trick.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4. Strict Memory Discipline: </a:t>
            </a:r>
            <a:r>
              <a:rPr>
                <a:solidFill>
                  <a:srgbClr val="F8FAFC"/>
                </a:solidFill>
              </a:rPr>
              <a:t>Long-running daemon processes must guarantee 0 bytes leaked and 0 descriptor leaks under continuous multi-client churn.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1. PROJECT IDENTIFICATION · RUBRIC 1 (5 MARKS)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Project Objectives &amp; Scope of Work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Approved Use Case: Project 19 — High-Performance Concurrent Key-Value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Review 1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Project Objectives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1. Fast In-Memory Index: </a:t>
            </a:r>
            <a:r>
              <a:rPr>
                <a:solidFill>
                  <a:srgbClr val="F8FAFC"/>
                </a:solidFill>
              </a:rPr>
              <a:t>Design an O(1) hash table with DJB2 hashing and automated dynamic load-factor resizing from scratch.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2. Crash-Consistent WAL: </a:t>
            </a:r>
            <a:r>
              <a:rPr>
                <a:solidFill>
                  <a:srgbClr val="F8FAFC"/>
                </a:solidFill>
              </a:rPr>
              <a:t>Implement Write-Ahead Logging with binary framing, IEEE 802.3 CRC32, and torn-write rejection.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3. Concurrent Networking: </a:t>
            </a:r>
            <a:r>
              <a:rPr>
                <a:solidFill>
                  <a:srgbClr val="F8FAFC"/>
                </a:solidFill>
              </a:rPr>
              <a:t>Build an asynchronous line-based TCP daemon tolerating partial stream reads and pipelining.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4. Distinction Deliverables: </a:t>
            </a:r>
            <a:r>
              <a:rPr>
                <a:solidFill>
                  <a:srgbClr val="F8FAFC"/>
                </a:solidFill>
              </a:rPr>
              <a:t>Implement 32-striped RW-locks, online atomic log compaction, background TTL reaper, and crash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Scope: What is In-Scope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POSIX C11 Core: </a:t>
            </a:r>
            <a:r>
              <a:rPr>
                <a:solidFill>
                  <a:srgbClr val="F8FAFC"/>
                </a:solidFill>
              </a:rPr>
              <a:t>Pure C11 implementation with zero third-party libraries (only pthreads &amp; POSIX sockets).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Dual Client Interfaces: </a:t>
            </a:r>
            <a:r>
              <a:rPr>
                <a:solidFill>
                  <a:srgbClr val="F8FAFC"/>
                </a:solidFill>
              </a:rPr>
              <a:t>Interactive terminal REPL CLI (bin/kvstore) and remote TCP socket client (bin/kvstore_client).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Durability Engine: </a:t>
            </a:r>
            <a:r>
              <a:rPr>
                <a:solidFill>
                  <a:srgbClr val="F8FAFC"/>
                </a:solidFill>
              </a:rPr>
              <a:t>Crash recovery verified against kill -9 with 100% data preservation and log compaction.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Quality Assurance: </a:t>
            </a:r>
            <a:r>
              <a:rPr>
                <a:solidFill>
                  <a:srgbClr val="F8FAFC"/>
                </a:solidFill>
              </a:rPr>
              <a:t>10 comprehensive test suites, automated leak checks via Valgrind, and race detection via TSan.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BBF24"/>
                </a:solidFill>
                <a:latin typeface="Segoe UI"/>
              </a:defRPr>
            </a:pPr>
            <a:r>
              <a:t>Scope Boundaries &amp; Assumptions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Single-Node Architecture: </a:t>
            </a:r>
            <a:r>
              <a:rPr>
                <a:solidFill>
                  <a:srgbClr val="F8FAFC"/>
                </a:solidFill>
              </a:rPr>
              <a:t>Scoped specifically as a high-performance single-node operating systems daemon.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No Distributed Clustering: </a:t>
            </a:r>
            <a:r>
              <a:rPr>
                <a:solidFill>
                  <a:srgbClr val="F8FAFC"/>
                </a:solidFill>
              </a:rPr>
              <a:t>Consensus algorithms (e.g. Raft/Paxos) and multi-node replication are out of capstone scope.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Fixed Memory Boundary: </a:t>
            </a:r>
            <a:r>
              <a:rPr>
                <a:solidFill>
                  <a:srgbClr val="F8FAFC"/>
                </a:solidFill>
              </a:rPr>
              <a:t>Assumes 64-bit virtual memory address space with POSIX-compliant host operating system.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Text &amp; Binary Values: </a:t>
            </a:r>
            <a:r>
              <a:rPr>
                <a:solidFill>
                  <a:srgbClr val="F8FAFC"/>
                </a:solidFill>
              </a:rPr>
              <a:t>Supports arbitrary ASCII and UTF-8 strings up to 64 KB key/value lengths.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2. REQUIREMENTS ENGINEERING · RUBRIC 2 (10 MARKS)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Functional &amp; Non-Functional Requirements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Formal specification of system behaviors, performance criteria, and OS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Review 1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Functional Requirements (FR1 – FR8)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FR1 (SET): </a:t>
            </a:r>
            <a:r>
              <a:rPr>
                <a:solidFill>
                  <a:srgbClr val="F8FAFC"/>
                </a:solidFill>
              </a:rPr>
              <a:t>Insert or update key-value pairs with optional TTL duration in milliseconds.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FR2 (GET): </a:t>
            </a:r>
            <a:r>
              <a:rPr>
                <a:solidFill>
                  <a:srgbClr val="F8FAFC"/>
                </a:solidFill>
              </a:rPr>
              <a:t>Retrieve value associated with key; return (nil) if absent or expired (lazy eviction).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FR3 (DEL): </a:t>
            </a:r>
            <a:r>
              <a:rPr>
                <a:solidFill>
                  <a:srgbClr val="F8FAFC"/>
                </a:solidFill>
              </a:rPr>
              <a:t>Atomically remove key, reclaim allocated heap memory, and return OK or NOT_FOUND.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FR4 (REPL CLI): </a:t>
            </a:r>
            <a:r>
              <a:rPr>
                <a:solidFill>
                  <a:srgbClr val="F8FAFC"/>
                </a:solidFill>
              </a:rPr>
              <a:t>Interactive command prompt with command history, syntax checks, and quote parsing.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FR5 (TCP Protocol): </a:t>
            </a:r>
            <a:r>
              <a:rPr>
                <a:solidFill>
                  <a:srgbClr val="F8FAFC"/>
                </a:solidFill>
              </a:rPr>
              <a:t>Streaming line protocol tolerating 1-byte chunks, partial reads, and pipelined bursts.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FR6 (WAL Replay): </a:t>
            </a:r>
            <a:r>
              <a:rPr>
                <a:solidFill>
                  <a:srgbClr val="F8FAFC"/>
                </a:solidFill>
              </a:rPr>
              <a:t>Binary log replay reconstructing in-memory index on startup, discarding torn writes.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FR7 (Compaction): </a:t>
            </a:r>
            <a:r>
              <a:rPr>
                <a:solidFill>
                  <a:srgbClr val="F8FAFC"/>
                </a:solidFill>
              </a:rPr>
              <a:t>Online snapshot compaction shrinking WAL size by 90%+ via atomic rename(2).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FR8 (TTL &amp; Reaper): </a:t>
            </a:r>
            <a:r>
              <a:rPr>
                <a:solidFill>
                  <a:srgbClr val="F8FAFC"/>
                </a:solidFill>
              </a:rPr>
              <a:t>Dual-mode expiration: lazy eviction on access + active background reaper thread.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A78BFA"/>
                </a:solidFill>
                <a:latin typeface="Segoe UI"/>
              </a:defRPr>
            </a:pPr>
            <a:r>
              <a:t>Non-Functional Requirements (NFR1 – NFR5)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NFR1 (Time Complexity): </a:t>
            </a:r>
            <a:r>
              <a:rPr>
                <a:solidFill>
                  <a:srgbClr val="F8FAFC"/>
                </a:solidFill>
              </a:rPr>
              <a:t>O(1) average-case time complexity for SET, GET, and DEL via DJB2 dynamic hash table.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NFR2 (Race Freedom): </a:t>
            </a:r>
            <a:r>
              <a:rPr>
                <a:solidFill>
                  <a:srgbClr val="F8FAFC"/>
                </a:solidFill>
              </a:rPr>
              <a:t>Zero data races under 16+ concurrent threads verified by Clang/GCC ThreadSanitizer (-fsanitize=thread).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NFR3 (Zero Memory Leaks): </a:t>
            </a:r>
            <a:r>
              <a:rPr>
                <a:solidFill>
                  <a:srgbClr val="F8FAFC"/>
                </a:solidFill>
              </a:rPr>
              <a:t>100% leak-free execution verified by Valgrind Memcheck (0 bytes in 0 blocks under full test churn).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NFR4 (Crash Durability): </a:t>
            </a:r>
            <a:r>
              <a:rPr>
                <a:solidFill>
                  <a:srgbClr val="F8FAFC"/>
                </a:solidFill>
              </a:rPr>
              <a:t>Survives sudden ungraceful SIGKILL (kill -9) mid-operation with zero corrupted records.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NFR5 (Zero Dependencies): </a:t>
            </a:r>
            <a:r>
              <a:rPr>
                <a:solidFill>
                  <a:srgbClr val="F8FAFC"/>
                </a:solidFill>
              </a:rPr>
              <a:t>Pure C11 using only POSIX.1-2008 standards (pthreads, sockets, poll) for maximum portability.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2. REQUIREMENTS ENGINEERING · RUBRIC 2 (10 MARKS)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Input/Output, Hardware &amp; Software Requirements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Protocol framing standards, development dependencies, and target execution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Review 1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Input / Output Requirements &amp; Grammar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Line-Based Stream Input: </a:t>
            </a:r>
            <a:r>
              <a:rPr>
                <a:solidFill>
                  <a:srgbClr val="F8FAFC"/>
                </a:solidFill>
              </a:rPr>
              <a:t>CRLF / LF terminated ASCII command stream with support for bare tokens and quoted strings.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Quoted String Tokenizer: </a:t>
            </a:r>
            <a:r>
              <a:rPr>
                <a:solidFill>
                  <a:srgbClr val="F8FAFC"/>
                </a:solidFill>
              </a:rPr>
              <a:t>Supports escaped quotes and multi-word values (e.g., SET user:1 "Alice Smith" 5000).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Deterministic Output Codes: </a:t>
            </a:r>
            <a:r>
              <a:rPr>
                <a:solidFill>
                  <a:srgbClr val="F8FAFC"/>
                </a:solidFill>
              </a:rPr>
              <a:t>Uniform reply semantics: OK, (nil), "&lt;value&gt;", NOT_FOUND, &lt;count&gt;, and ERROR &lt;msg&gt;.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Fragmented Stream Resilience: </a:t>
            </a:r>
            <a:r>
              <a:rPr>
                <a:solidFill>
                  <a:srgbClr val="F8FAFC"/>
                </a:solidFill>
              </a:rPr>
              <a:t>TCP ClientBuffer accumulates byte fragments across recv() calls; tolerates 1-byte chunks without dropping data.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Pipelining Support: </a:t>
            </a:r>
            <a:r>
              <a:rPr>
                <a:solidFill>
                  <a:srgbClr val="F8FAFC"/>
                </a:solidFill>
              </a:rPr>
              <a:t>Clients may send multiple back-to-back requests in a single buffer; daemon extracts and dispatches each in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Hardware &amp; Software Specifications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Operating System: </a:t>
            </a:r>
            <a:r>
              <a:rPr>
                <a:solidFill>
                  <a:srgbClr val="F8FAFC"/>
                </a:solidFill>
              </a:rPr>
              <a:t>Ubuntu 24.04 LTS running on Windows Subsystem for Linux (WSL2), Linux Kernel 6.6.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Compiler &amp; Standard: </a:t>
            </a:r>
            <a:r>
              <a:rPr>
                <a:solidFill>
                  <a:srgbClr val="F8FAFC"/>
                </a:solidFill>
              </a:rPr>
              <a:t>GCC 13.x / Clang 18 with C11 standard (-std=c11 -Wall -Wextra -Wpedantic -pthread).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Build System: </a:t>
            </a:r>
            <a:r>
              <a:rPr>
                <a:solidFill>
                  <a:srgbClr val="F8FAFC"/>
                </a:solidFill>
              </a:rPr>
              <a:t>GNU Make with modular rules (make all, make test, make valgrind, make tsan, make demo).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Verification Toolchain: </a:t>
            </a:r>
            <a:r>
              <a:rPr>
                <a:solidFill>
                  <a:srgbClr val="F8FAFC"/>
                </a:solidFill>
              </a:rPr>
              <a:t>Valgrind 3.22 (Memcheck), Clang ThreadSanitizer, GDB, strace, and GitHub CLI (gh).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Hardware Environment: </a:t>
            </a:r>
            <a:r>
              <a:rPr>
                <a:solidFill>
                  <a:srgbClr val="F8FAFC"/>
                </a:solidFill>
              </a:rPr>
              <a:t>x86_64 Multi-Core CPU (4+ virtual cores recommended for threadpool &amp; striped lock scaling), 4 GB 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3. SYSTEM DESIGN · RUBRIC 3 (10 MARKS)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Overall System Architecture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Multi-layered decoupled architecture connecting client endpoints to durable in-memory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Review 1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Tier 1: Client Interfaces &amp; Interaction Layer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Interactive REPL CLI (bin/kvstore): </a:t>
            </a:r>
            <a:r>
              <a:rPr>
                <a:solidFill>
                  <a:srgbClr val="F8FAFC"/>
                </a:solidFill>
              </a:rPr>
              <a:t>Direct terminal interface with colored prompts, syntax validation, and instant feedback.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TCP Client Utility (bin/kvstore_client): </a:t>
            </a:r>
            <a:r>
              <a:rPr>
                <a:solidFill>
                  <a:srgbClr val="F8FAFC"/>
                </a:solidFill>
              </a:rPr>
              <a:t>Non-blocking socket client supporting interactive queries and scripted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A78BFA"/>
                </a:solidFill>
                <a:latin typeface="Segoe UI"/>
              </a:defRPr>
            </a:pPr>
            <a:r>
              <a:t>Tier 2: Network &amp; Signal Daemon Layer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Non-Blocking Event Loop: </a:t>
            </a:r>
            <a:r>
              <a:rPr>
                <a:solidFill>
                  <a:srgbClr val="F8FAFC"/>
                </a:solidFill>
              </a:rPr>
              <a:t>POSIX poll() multiplexing client socket streams and listening sockets without blocking.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Self-Pipe Trick (self_pipe[2]): </a:t>
            </a:r>
            <a:r>
              <a:rPr>
                <a:solidFill>
                  <a:srgbClr val="F8FAFC"/>
                </a:solidFill>
              </a:rPr>
              <a:t>Signal-safe pipe trick allowing SIGINT/SIGTERM handlers to trigger graceful shutdown.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Tier 3: Protocol Framing &amp; Concurrency Layer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Streaming Protocol Parser: </a:t>
            </a:r>
            <a:r>
              <a:rPr>
                <a:solidFill>
                  <a:srgbClr val="F8FAFC"/>
                </a:solidFill>
              </a:rPr>
              <a:t>ClientBuffer dynamically resizes, extracts CRLF delimiters, and tokenizes arguments.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32 Striped RW-Locks: </a:t>
            </a:r>
            <a:r>
              <a:rPr>
                <a:solidFill>
                  <a:srgbClr val="F8FAFC"/>
                </a:solidFill>
              </a:rPr>
              <a:t>Key hash space mapped across 32 independent pthread_rwlock_t instances for high parallelism.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BBF24"/>
                </a:solidFill>
                <a:latin typeface="Segoe UI"/>
              </a:defRPr>
            </a:pPr>
            <a:r>
              <a:t>Tier 4: Storage, TTL &amp; Durability Engine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In-Memory Hash Index: </a:t>
            </a:r>
            <a:r>
              <a:rPr>
                <a:solidFill>
                  <a:srgbClr val="F8FAFC"/>
                </a:solidFill>
              </a:rPr>
              <a:t>Separate chaining buckets with DJB2 hash and power-of-2 automatic bucket doubling.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Binary WAL &amp; Compaction: </a:t>
            </a:r>
            <a:r>
              <a:rPr>
                <a:solidFill>
                  <a:srgbClr val="F8FAFC"/>
                </a:solidFill>
              </a:rPr>
              <a:t>CRC32 framed append log; atomic rename(2) snapshot compaction shrinks logs by 98%.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3. SYSTEM DESIGN · RUBRIC 3 (10 MARKS)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Module Block Diagram &amp; Request Workflow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End-to-end trace of query processing from socket read to WAL commit and reply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Review 1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System Module Decomposition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Module 1: In-Memory Index (hash_table.c): </a:t>
            </a:r>
            <a:r>
              <a:rPr>
                <a:solidFill>
                  <a:srgbClr val="F8FAFC"/>
                </a:solidFill>
              </a:rPr>
              <a:t>Manages bucket arrays, linked node chains, DJB2 hashing, and dynamic table resizing.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Module 2: Command Dispatcher (dispatcher.c): </a:t>
            </a:r>
            <a:r>
              <a:rPr>
                <a:solidFill>
                  <a:srgbClr val="F8FAFC"/>
                </a:solidFill>
              </a:rPr>
              <a:t>Translates parsed tokens into KVStore API calls and formats standardized replies.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Module 3: Protocol &amp; Network Server (server.c): </a:t>
            </a:r>
            <a:r>
              <a:rPr>
                <a:solidFill>
                  <a:srgbClr val="F8FAFC"/>
                </a:solidFill>
              </a:rPr>
              <a:t>Manages socket life cycles, buffer chunking, connection tracking, and draining.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Module 4: Persistence Engine (wal.c): </a:t>
            </a:r>
            <a:r>
              <a:rPr>
                <a:solidFill>
                  <a:srgbClr val="F8FAFC"/>
                </a:solidFill>
              </a:rPr>
              <a:t>Appends framed binary mutation records with IEEE 802.3 CRC32; replays log on boot.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Module 5: Compaction &amp; TTL (compaction.c, ttl.c): </a:t>
            </a:r>
            <a:r>
              <a:rPr>
                <a:solidFill>
                  <a:srgbClr val="F8FAFC"/>
                </a:solidFill>
              </a:rPr>
              <a:t>Background active expiration sweep and atomic live log compaction swap.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End-to-End Request Data Flow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Step 1 (Ingress): </a:t>
            </a:r>
            <a:r>
              <a:rPr>
                <a:solidFill>
                  <a:srgbClr val="F8FAFC"/>
                </a:solidFill>
              </a:rPr>
              <a:t>Client writes SET user:100 "Rajnish" 60000 into TCP socket stream.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Step 2 (Framing): </a:t>
            </a:r>
            <a:r>
              <a:rPr>
                <a:solidFill>
                  <a:srgbClr val="F8FAFC"/>
                </a:solidFill>
              </a:rPr>
              <a:t>server.c poll() detects readable socket; appends bytes to ClientBuffer until newline.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Step 3 (Parsing): </a:t>
            </a:r>
            <a:r>
              <a:rPr>
                <a:solidFill>
                  <a:srgbClr val="F8FAFC"/>
                </a:solidFill>
              </a:rPr>
              <a:t>parser.c extracts command and arguments; validates syntax and converts TTL to epoch ms.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Step 4 (Durability): </a:t>
            </a:r>
            <a:r>
              <a:rPr>
                <a:solidFill>
                  <a:srgbClr val="F8FAFC"/>
                </a:solidFill>
              </a:rPr>
              <a:t>wal.c computes CRC32, frames binary record, and appends to data/kvstore.wal.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Step 5 (Lock &amp; Write): </a:t>
            </a:r>
            <a:r>
              <a:rPr>
                <a:solidFill>
                  <a:srgbClr val="F8FAFC"/>
                </a:solidFill>
              </a:rPr>
              <a:t>kvstore.c acquires Stripe RW write-lock, mutates bucket node, and releases lock.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Step 6 (Response): </a:t>
            </a:r>
            <a:r>
              <a:rPr>
                <a:solidFill>
                  <a:srgbClr val="F8FAFC"/>
                </a:solidFill>
              </a:rPr>
              <a:t>protocol.c formats OK reply and writes back to socket descriptor; client completes.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3. SYSTEM DESIGN · RUBRIC 3 (10 MARKS)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Storage/Index Design &amp; Technology Stack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Binary WAL framing, collision chain indexing, and rationale for selected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Review 1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Storage &amp; Index Architecture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DJB2 Hash Algorithm: </a:t>
            </a:r>
            <a:r>
              <a:rPr>
                <a:solidFill>
                  <a:srgbClr val="F8FAFC"/>
                </a:solidFill>
              </a:rPr>
              <a:t>hash = ((hash &lt;&lt; 5) + hash) + c — produces uniform bucket distribution with minimal clustering.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Dynamic Power-of-2 Resizing: </a:t>
            </a:r>
            <a:r>
              <a:rPr>
                <a:solidFill>
                  <a:srgbClr val="F8FAFC"/>
                </a:solidFill>
              </a:rPr>
              <a:t>When load factor (size / capacity) &gt;= 0.75, table capacity doubles (16 -&gt; 32 -&gt; 64), re-linking pointers without reallocation.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Binary WAL Frame Layout: </a:t>
            </a:r>
            <a:r>
              <a:rPr>
                <a:solidFill>
                  <a:srgbClr val="F8FAFC"/>
                </a:solidFill>
              </a:rPr>
              <a:t>Structured record format protecting against bit rot and incomplete disk writes: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  - Op Code (1 Byte): </a:t>
            </a:r>
            <a:r>
              <a:rPr>
                <a:solidFill>
                  <a:srgbClr val="F8FAFC"/>
                </a:solidFill>
              </a:rPr>
              <a:t>0x01 (SET), 0x02 (DEL), 0x03 (SET_TTL).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  - Length Headers: </a:t>
            </a:r>
            <a:r>
              <a:rPr>
                <a:solidFill>
                  <a:srgbClr val="F8FAFC"/>
                </a:solidFill>
              </a:rPr>
              <a:t>KeyLen (2 Bytes uint16_t), ValLen (4 Bytes uint32_t).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  - Payload &amp; Timestamp: </a:t>
            </a:r>
            <a:r>
              <a:rPr>
                <a:solidFill>
                  <a:srgbClr val="F8FAFC"/>
                </a:solidFill>
              </a:rPr>
              <a:t>Raw Key bytes, Value bytes, ExpireAt (8 Bytes uint64_t).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  - CRC32 Checksum: </a:t>
            </a:r>
            <a:r>
              <a:rPr>
                <a:solidFill>
                  <a:srgbClr val="F8FAFC"/>
                </a:solidFill>
              </a:rPr>
              <a:t>4-Byte IEEE 802.3 CRC over all preceding fields for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A78BFA"/>
                </a:solidFill>
                <a:latin typeface="Segoe UI"/>
              </a:defRPr>
            </a:pPr>
            <a:r>
              <a:t>Selected Technologies &amp; Engineering Rationale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C11 (ISO/IEC 9899:2011): </a:t>
            </a:r>
            <a:r>
              <a:rPr>
                <a:solidFill>
                  <a:srgbClr val="F8FAFC"/>
                </a:solidFill>
              </a:rPr>
              <a:t>Provides deterministic memory allocation, fine-grained pointer semantics, and zero runtime garbage collection pauses.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POSIX Pthreads &amp; Sockets: </a:t>
            </a:r>
            <a:r>
              <a:rPr>
                <a:solidFill>
                  <a:srgbClr val="F8FAFC"/>
                </a:solidFill>
              </a:rPr>
              <a:t>Direct access to OS synchronization primitives (pthread_rwlock_t, mutex, condvar) and network stack.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Zero Third-Party Libraries: </a:t>
            </a:r>
            <a:r>
              <a:rPr>
                <a:solidFill>
                  <a:srgbClr val="F8FAFC"/>
                </a:solidFill>
              </a:rPr>
              <a:t>Built 100% from scratch to satisfy capstone requirements and ensure transparent internal auditing.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Git &amp; GitHub: </a:t>
            </a:r>
            <a:r>
              <a:rPr>
                <a:solidFill>
                  <a:srgbClr val="F8FAFC"/>
                </a:solidFill>
              </a:rPr>
              <a:t>Strict commit history, collaborative workflow, and automated verification scripts.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A78BFA"/>
                </a:solidFill>
              </a:rPr>
              <a:t>GNU Make: </a:t>
            </a:r>
            <a:r>
              <a:rPr>
                <a:solidFill>
                  <a:srgbClr val="F8FAFC"/>
                </a:solidFill>
              </a:rPr>
              <a:t>Reproducible compilation rules supporting modular builds, sanitizers, and regression tests.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4. WORKING ENVIRONMENT · RUBRIC 4 (10 MARKS)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Working Environment &amp; Codebase Structure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Development platform, installed toolchains, GitHub repository, and directory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Review 1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Development Setup &amp; Installed Toolchain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Host Environment: </a:t>
            </a:r>
            <a:r>
              <a:rPr>
                <a:solidFill>
                  <a:srgbClr val="F8FAFC"/>
                </a:solidFill>
              </a:rPr>
              <a:t>Ubuntu 24.04 LTS running on WSL2 with Linux 6.6 Kernel on Windows 11 host.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C Compiler: </a:t>
            </a:r>
            <a:r>
              <a:rPr>
                <a:solidFill>
                  <a:srgbClr val="F8FAFC"/>
                </a:solidFill>
              </a:rPr>
              <a:t>gcc (Ubuntu 13.x) with strict C11 flags: -Wall -Wextra -Wpedantic -std=c11 -pthread -O2.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Memory &amp; Race Auditors: </a:t>
            </a:r>
            <a:r>
              <a:rPr>
                <a:solidFill>
                  <a:srgbClr val="F8FAFC"/>
                </a:solidFill>
              </a:rPr>
              <a:t>Valgrind 3.22 (Memcheck) and Clang ThreadSanitizer (-fsanitize=thread) installed and configured.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Git / GitHub Setup: </a:t>
            </a:r>
            <a:r>
              <a:rPr>
                <a:solidFill>
                  <a:srgbClr val="F8FAFC"/>
                </a:solidFill>
              </a:rPr>
              <a:t>Repository: https://github.com/really-rajnish/KVStore with active GitHub CLI (gh) authentication.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Build Automation: </a:t>
            </a:r>
            <a:r>
              <a:rPr>
                <a:solidFill>
                  <a:srgbClr val="F8FAFC"/>
                </a:solidFill>
              </a:rPr>
              <a:t>Modular Makefile with make all, make test, make valgrind, make tsan, make bench, and make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Project Code Structure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include/ (Header Interfaces): </a:t>
            </a:r>
            <a:r>
              <a:rPr>
                <a:solidFill>
                  <a:srgbClr val="F8FAFC"/>
                </a:solidFill>
              </a:rPr>
              <a:t>client.h, compaction.h, dispatcher.h, hash_table.h, kvstore.h, parser.h, protocol.h, server.h, threadpool.h, ttl.h, wal.h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src/ (Implementation Source): </a:t>
            </a:r>
            <a:r>
              <a:rPr>
                <a:solidFill>
                  <a:srgbClr val="F8FAFC"/>
                </a:solidFill>
              </a:rPr>
              <a:t>kvstore.c, hash_table.c, server.c, client.c, dispatcher.c, parser.c, protocol.c, wal.c, compaction.c, threadpool.c, ttl.c, bench_main.c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tests/ (10 Test Suites): </a:t>
            </a:r>
            <a:r>
              <a:rPr>
                <a:solidFill>
                  <a:srgbClr val="F8FAFC"/>
                </a:solidFill>
              </a:rPr>
              <a:t>Standalone suites covering unit, parser, protocol, networking, signals, WAL, compaction, concurrency, and TTL.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scripts/ (Automation Tools): </a:t>
            </a:r>
            <a:r>
              <a:rPr>
                <a:solidFill>
                  <a:srgbClr val="F8FAFC"/>
                </a:solidFill>
              </a:rPr>
              <a:t>benchmark.sh (load generator), crash_test.sh (SIGKILL durability test), demo.sh (live viva presentation).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docs/ (Technical Documentation): </a:t>
            </a:r>
            <a:r>
              <a:rPr>
                <a:solidFill>
                  <a:srgbClr val="F8FAFC"/>
                </a:solidFill>
              </a:rPr>
              <a:t>architecture.md, design.md, requirements.md, testing.md, benchmark.md, execution_report.md.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5. WORKING PROTOTYPE · RUBRIC 5 (10 MARKS)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Core Module-I Implementation &amp; Prototype Status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Review-1 Mandate: Working core application demonstrated with initial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Review 1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Core Module-I: Implemented &amp; Running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Review-1 Status: </a:t>
            </a:r>
            <a:r>
              <a:rPr>
                <a:solidFill>
                  <a:srgbClr val="F8FAFC"/>
                </a:solidFill>
              </a:rPr>
              <a:t>Core Module-I is fully implemented, compiled, and actively running in the prototype environment.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In-Memory Hash Table: </a:t>
            </a:r>
            <a:r>
              <a:rPr>
                <a:solidFill>
                  <a:srgbClr val="F8FAFC"/>
                </a:solidFill>
              </a:rPr>
              <a:t>Complete CRUD lifecycle (SET, GET, DEL, COUNT) built from scratch with DJB2 hashing.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Collision Handling: </a:t>
            </a:r>
            <a:r>
              <a:rPr>
                <a:solidFill>
                  <a:srgbClr val="F8FAFC"/>
                </a:solidFill>
              </a:rPr>
              <a:t>Singly-linked separate chaining bucket nodes with clean memory reclamation on deletion.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Dynamic Rehashing: </a:t>
            </a:r>
            <a:r>
              <a:rPr>
                <a:solidFill>
                  <a:srgbClr val="F8FAFC"/>
                </a:solidFill>
              </a:rPr>
              <a:t>Automated power-of-2 resizing when load factor exceeds threshold, maintaining O(1) performance.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Interactive REPL CLI: </a:t>
            </a:r>
            <a:r>
              <a:rPr>
                <a:solidFill>
                  <a:srgbClr val="F8FAFC"/>
                </a:solidFill>
              </a:rPr>
              <a:t>bin/kvstore terminal binary runs interactively, parses commands, and prints formatted output.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Unit Test Verification: </a:t>
            </a:r>
            <a:r>
              <a:rPr>
                <a:solidFill>
                  <a:srgbClr val="F8FAFC"/>
                </a:solidFill>
              </a:rPr>
              <a:t>test_hash_table (28 assertions) and test_kvstore (18 assertions) pass with 100% success.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BBF24"/>
                </a:solidFill>
                <a:latin typeface="Segoe UI"/>
              </a:defRPr>
            </a:pPr>
            <a:r>
              <a:t>Distinction Bar: Exceeding Review-1 Baseline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Beyond Module-I Baseline: </a:t>
            </a:r>
            <a:r>
              <a:rPr>
                <a:solidFill>
                  <a:srgbClr val="F8FAFC"/>
                </a:solidFill>
              </a:rPr>
              <a:t>While Review-1 only requires partial Module-I progress, the team has implemented the full capstone architecture!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TCP Networking Daemon: </a:t>
            </a:r>
            <a:r>
              <a:rPr>
                <a:solidFill>
                  <a:srgbClr val="F8FAFC"/>
                </a:solidFill>
              </a:rPr>
              <a:t>Multi-client network server (bin/kvstore_server) with self-pipe signal handling operational.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Write-Ahead Log (WAL): </a:t>
            </a:r>
            <a:r>
              <a:rPr>
                <a:solidFill>
                  <a:srgbClr val="F8FAFC"/>
                </a:solidFill>
              </a:rPr>
              <a:t>Full crash consistency surviving kill -9 with CRC32 integrity checks implemented.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Online Compaction: </a:t>
            </a:r>
            <a:r>
              <a:rPr>
                <a:solidFill>
                  <a:srgbClr val="F8FAFC"/>
                </a:solidFill>
              </a:rPr>
              <a:t>98%+ log reduction via atomic rename(2) snapshotting operational.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Striped Concurrency: </a:t>
            </a:r>
            <a:r>
              <a:rPr>
                <a:solidFill>
                  <a:srgbClr val="F8FAFC"/>
                </a:solidFill>
              </a:rPr>
              <a:t>32 reader-writer locks delivering 4.54x throughput speedup over global mutex.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Subsystem TTL: </a:t>
            </a:r>
            <a:r>
              <a:rPr>
                <a:solidFill>
                  <a:srgbClr val="F8FAFC"/>
                </a:solidFill>
              </a:rPr>
              <a:t>Lazy eviction + active background reaper thread running in background.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5. WORKING PROTOTYPE · RUBRIC 5 (10 MARKS)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Prototype Verification &amp; Distinction Metrics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Empirical validation across unit testing, memory safety, race detection, and crash durability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Review 1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280160"/>
          </a:xfrm>
          <a:prstGeom prst="roundRect">
            <a:avLst/>
          </a:prstGeom>
          <a:solidFill>
            <a:srgbClr val="16263F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82880" wrap="square"/>
          <a:lstStyle/>
          <a:p>
            <a:pPr algn="ctr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10 / 10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Test Suites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280160"/>
          </a:xfrm>
          <a:prstGeom prst="roundRect">
            <a:avLst/>
          </a:prstGeom>
          <a:solidFill>
            <a:srgbClr val="16263F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82880" wrap="square"/>
          <a:lstStyle/>
          <a:p>
            <a:pPr algn="ctr">
              <a:defRPr sz="2200" b="1">
                <a:solidFill>
                  <a:srgbClr val="34D399"/>
                </a:solidFill>
                <a:latin typeface="Segoe UI"/>
              </a:defRPr>
            </a:pPr>
            <a:r>
              <a:t>307 / 307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Assertions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1280160"/>
          </a:xfrm>
          <a:prstGeom prst="roundRect">
            <a:avLst/>
          </a:prstGeom>
          <a:solidFill>
            <a:srgbClr val="16263F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82880" wrap="square"/>
          <a:lstStyle/>
          <a:p>
            <a:pPr algn="ctr">
              <a:defRPr sz="2200" b="1">
                <a:solidFill>
                  <a:srgbClr val="A78BFA"/>
                </a:solidFill>
                <a:latin typeface="Segoe UI"/>
              </a:defRPr>
            </a:pPr>
            <a:r>
              <a:t>0 Bytes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Valgrind Leaks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468880" cy="1280160"/>
          </a:xfrm>
          <a:prstGeom prst="roundRect">
            <a:avLst/>
          </a:prstGeom>
          <a:solidFill>
            <a:srgbClr val="16263F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bIns="182880" wrap="square"/>
          <a:lstStyle/>
          <a:p>
            <a:pPr algn="ctr">
              <a:defRPr sz="2200" b="1">
                <a:solidFill>
                  <a:srgbClr val="FBBF24"/>
                </a:solidFill>
                <a:latin typeface="Segoe UI"/>
              </a:defRPr>
            </a:pPr>
            <a:r>
              <a:t>4.54x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Throughput Speedup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212080" cy="310896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Automated OS Audits &amp; Guarantees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Valgrind Memcheck Audit: </a:t>
            </a:r>
            <a:r>
              <a:rPr>
                <a:solidFill>
                  <a:srgbClr val="F8FAFC"/>
                </a:solidFill>
              </a:rPr>
              <a:t>make valgrind audits all 10 binaries with --leak-check=full --error-exitcode=1. Result: 0 bytes leaked in 0 blocks.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ThreadSanitizer Audit: </a:t>
            </a:r>
            <a:r>
              <a:rPr>
                <a:solidFill>
                  <a:srgbClr val="F8FAFC"/>
                </a:solidFill>
              </a:rPr>
              <a:t>make tsan compiles under -fsanitize=thread and runs 16 concurrent worker threads under high contention. Result: 0 data races.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Crash Consistency (kill -9): </a:t>
            </a:r>
            <a:r>
              <a:rPr>
                <a:solidFill>
                  <a:srgbClr val="F8FAFC"/>
                </a:solidFill>
              </a:rPr>
              <a:t>scripts/crash_test.sh spawns daemon, inserts keys, sends sudden SIGKILL, and verifies 100% data recovery on replay.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5212080" cy="310896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FBBF24"/>
                </a:solidFill>
                <a:latin typeface="Segoe UI"/>
              </a:defRPr>
            </a:pPr>
            <a:r>
              <a:t>Empirical Concurrency Evaluation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Read-Heavy Workload (95% Read): </a:t>
            </a:r>
            <a:r>
              <a:rPr>
                <a:solidFill>
                  <a:srgbClr val="F8FAFC"/>
                </a:solidFill>
              </a:rPr>
              <a:t>32 Striped RW-Locks achieved 7,221,684 OPS vs 1,591,786 OPS for Global Mutex (4.54x speedup).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Balanced Workload (50% Read): </a:t>
            </a:r>
            <a:r>
              <a:rPr>
                <a:solidFill>
                  <a:srgbClr val="F8FAFC"/>
                </a:solidFill>
              </a:rPr>
              <a:t>32 Striped RW-Locks achieved 3,449,603 OPS vs 1,222,022 OPS for Global Mutex (2.82x speedup).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FBBF24"/>
                </a:solidFill>
              </a:rPr>
              <a:t>Tail Latency Reduction: </a:t>
            </a:r>
            <a:r>
              <a:rPr>
                <a:solidFill>
                  <a:srgbClr val="F8FAFC"/>
                </a:solidFill>
              </a:rPr>
              <a:t>p99 latency plummeted from 76.0 us (Global Mutex) down to 1.0 us (Striped RW-Locks) — 98.7% latency reduction.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SUMMARY &amp; ORAL DEFENSE · REVIEW 1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Team Member Contributions &amp; Viva Demonstration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Individual responsibilities, capstone roadmap, and live demonstration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 rIns="0" tIns="0" l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KVStore — OS Capstone Review 1 | KL University 25CS2104E | github.com/really-rajnish/KVStore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Individual Student Contributions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Rajnish Kumar Ranjan (2500032608): </a:t>
            </a:r>
            <a:r>
              <a:rPr>
                <a:solidFill>
                  <a:srgbClr val="F8FAFC"/>
                </a:solidFill>
              </a:rPr>
              <a:t>Core Hash Table Engine, DJB2 rehashing, 32-Stripe RW-Lock concurrency architecture, atomic Compaction Engine, system integration.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Hardik Gupta (2500032616): </a:t>
            </a:r>
            <a:r>
              <a:rPr>
                <a:solidFill>
                  <a:srgbClr val="F8FAFC"/>
                </a:solidFill>
              </a:rPr>
              <a:t>Write-Ahead Log (WAL) binary serialization, IEEE 802.3 CRC32 checksums, crash recovery replay engine, automated kill -9 test harness.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Om Amrit Das (2500032631): </a:t>
            </a:r>
            <a:r>
              <a:rPr>
                <a:solidFill>
                  <a:srgbClr val="F8FAFC"/>
                </a:solidFill>
              </a:rPr>
              <a:t>Non-blocking TCP daemon, dynamic ClientBuffer streaming protocol, Self-Pipe Trick async signal handling, REPL CLI interface.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Collaborative Deliverables: </a:t>
            </a:r>
            <a:r>
              <a:rPr>
                <a:solidFill>
                  <a:srgbClr val="F8FAFC"/>
                </a:solidFill>
              </a:rPr>
              <a:t>Shared documentation, Valgrind leak audits, ThreadSanitizer tuning, benchmark evaluations.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Live Viva Demonstration Checklist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Demo 1: Interactive REPL (bin/kvstore): </a:t>
            </a:r>
            <a:r>
              <a:rPr>
                <a:solidFill>
                  <a:srgbClr val="F8FAFC"/>
                </a:solidFill>
              </a:rPr>
              <a:t>Live execution of SET, GET, DEL, COUNT, EXPIRE, and TTL commands.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Demo 2: Full Test Suite (make test): </a:t>
            </a:r>
            <a:r>
              <a:rPr>
                <a:solidFill>
                  <a:srgbClr val="F8FAFC"/>
                </a:solidFill>
              </a:rPr>
              <a:t>Instant live execution of all 10 test suites showing 307 assertions passing with 0 failures.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Demo 3: Memory Safety (make valgrind): </a:t>
            </a:r>
            <a:r>
              <a:rPr>
                <a:solidFill>
                  <a:srgbClr val="F8FAFC"/>
                </a:solidFill>
              </a:rPr>
              <a:t>Live Valgrind check proving 0 memory leaks across test binaries.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Demo 4: Automated Crash Test (make crash-test): </a:t>
            </a:r>
            <a:r>
              <a:rPr>
                <a:solidFill>
                  <a:srgbClr val="F8FAFC"/>
                </a:solidFill>
              </a:rPr>
              <a:t>Demonstration of kill -9 kill followed by zero-loss database recovery.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b="1">
                <a:solidFill>
                  <a:srgbClr val="34D399"/>
                </a:solidFill>
              </a:rPr>
              <a:t>Demo 5: Capstone Walkthrough (make demo): </a:t>
            </a:r>
            <a:r>
              <a:rPr>
                <a:solidFill>
                  <a:srgbClr val="F8FAFC"/>
                </a:solidFill>
              </a:rPr>
              <a:t>Automated live script showcasing all features in sequence.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